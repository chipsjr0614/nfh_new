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2" r:id="rId4"/>
    <p:sldId id="261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EF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80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C90906-E21C-4276-99C5-D849AE4FE9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26C0305-A682-42C8-9894-5713C123B7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72ABE6-D786-4F6C-9587-2F9B461D5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2C407-44E2-404D-9A04-027BE63DF907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D43A96-0195-480E-B9D0-073796B92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1A10A6-0869-4F56-8F78-B9C6D64AB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7DBF4-D760-4F29-821D-12A07727C1E5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CEA8303-1A07-446D-92B6-6D430DEE10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875" y="-57150"/>
            <a:ext cx="5048250" cy="697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445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2E76E0-597C-442E-A150-354784ADE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C78C96-CE3F-45A9-ACEA-EDF97CBB8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BCF0CA-74A5-4273-81B2-9DB7DEB22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2C407-44E2-404D-9A04-027BE63DF907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ED27C3-6B44-49AA-8B5F-71FC0F3B3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BD183D-0895-4CAB-B8E7-79A6ADD12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7DBF4-D760-4F29-821D-12A07727C1E5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CEA8303-1A07-446D-92B6-6D430DEE10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875" y="-57150"/>
            <a:ext cx="5048250" cy="697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215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29124D-EF4B-4C6D-A87A-DABE65ED6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6EB3275-11B5-460E-9D80-F5E122A0D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45393F-75A1-43E9-9BD2-51586F8C6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2C407-44E2-404D-9A04-027BE63DF907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2922E6-7450-4234-8B7F-C3438FE3B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68A6FA-E0AF-4DD8-B392-DA42EC299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7DBF4-D760-4F29-821D-12A07727C1E5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CEA8303-1A07-446D-92B6-6D430DEE10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875" y="-57150"/>
            <a:ext cx="5048250" cy="697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055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8C0BAA-39DA-4FAA-A019-D3C0C558F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CB9B94-C85E-40D1-A78A-1D0FD99EBC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1AD416E-5BAB-46FE-AC9F-2E75BDE8A9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4B4F6EE-AB56-4C72-9D2F-335705622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2C407-44E2-404D-9A04-027BE63DF907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EDBE630-3B1C-4FED-9D12-82C173A80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796265-2B97-4EC4-A6FE-A4FF380BF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7DBF4-D760-4F29-821D-12A07727C1E5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CEA8303-1A07-446D-92B6-6D430DEE10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875" y="-57150"/>
            <a:ext cx="5048250" cy="697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732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1F6A1-679C-4F6E-A0BD-A286E43FB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A4A9A95-3244-4655-ADD3-868A5340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D3B9D0D-6E5F-4164-898E-8C786D1F8D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B073757-B8AF-44DA-A01B-ABFA5DA467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1670E82-EAF7-4515-8307-F1A7B4F418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A2B6310-4A4D-4B73-83E9-6DCFB1D2E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2C407-44E2-404D-9A04-027BE63DF907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A7BD4A9-1ACA-4DE0-8622-1914D642E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4CB2ED2-3D89-42B4-8F1E-301A5A7CC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7DBF4-D760-4F29-821D-12A07727C1E5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CEA8303-1A07-446D-92B6-6D430DEE10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875" y="-57150"/>
            <a:ext cx="5048250" cy="697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458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539793-4946-4BC5-AD2A-CD93F937F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F1C121-18C8-4F30-915D-99D59B46F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2C407-44E2-404D-9A04-027BE63DF907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8D6EC20-4B63-4C2F-8B71-0940390E9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B43C3E0-3C41-4A20-B46D-B3BA438E5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7DBF4-D760-4F29-821D-12A07727C1E5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CEA8303-1A07-446D-92B6-6D430DEE10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875" y="-57150"/>
            <a:ext cx="5048250" cy="697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483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C3CF942-7D9B-4287-9239-D78DE6B9B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2C407-44E2-404D-9A04-027BE63DF907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8502584-FBD3-44A7-A74C-AE7A6B0D0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F83243-A2EB-48BA-AB9E-1C7D22A4F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7DBF4-D760-4F29-821D-12A07727C1E5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CEA8303-1A07-446D-92B6-6D430DEE10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875" y="-57150"/>
            <a:ext cx="5048250" cy="697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039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C7DAA2-A48E-4CDA-AB52-721AAB860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D92A70-7DF8-4933-A1E0-F26238DA7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4A2CD3-F126-4B78-9708-82D45A770D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CF9FEB-B533-448A-AD36-284C2F3E3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2C407-44E2-404D-9A04-027BE63DF907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492B087-482A-4032-A808-8E7E53F50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D8BD7C5-FAB1-4A04-8780-90BBA6E6D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7DBF4-D760-4F29-821D-12A07727C1E5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CEA8303-1A07-446D-92B6-6D430DEE10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875" y="-57150"/>
            <a:ext cx="5048250" cy="697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999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538D2F-6354-4D6C-BEF6-2F9F5C70F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ABFC56E-B8AF-40D3-87B2-6B7714A0C5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1F1806D-7438-4830-A06C-EB68F81EE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3FF0200-AAC2-4A92-80A5-2F0B59997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2C407-44E2-404D-9A04-027BE63DF907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9176CB-E288-4515-89AA-36A9E7C16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C70415F-A789-4C80-9937-C6BBEF687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7DBF4-D760-4F29-821D-12A07727C1E5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CEA8303-1A07-446D-92B6-6D430DEE10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875" y="-57150"/>
            <a:ext cx="5048250" cy="697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170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47A7E7-A0F8-4CCE-BDA3-7FE79E13A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37C1BD1-254D-462C-87CD-022D9C8288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01BE4F-2436-4EA1-88C1-1C759FDBF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2C407-44E2-404D-9A04-027BE63DF907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2C35A9-3351-4B86-9EC3-5B94879F5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9C8C19-4620-4276-BEFF-A9402EB62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7DBF4-D760-4F29-821D-12A07727C1E5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CEA8303-1A07-446D-92B6-6D430DEE10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875" y="-57150"/>
            <a:ext cx="5048250" cy="697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201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4957BD3-1C0F-4972-B65F-E04F99B2FC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7C66F35-D56B-472F-A370-97AFA14101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61C1F9-7E02-4AE5-A482-F311EAFB4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2C407-44E2-404D-9A04-027BE63DF907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E16170-52C7-4DC5-B8C6-6EF892D04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E2C78E-2DE2-47E2-A46B-3E2F9DF2D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7DBF4-D760-4F29-821D-12A07727C1E5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CEA8303-1A07-446D-92B6-6D430DEE10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875" y="-57150"/>
            <a:ext cx="5048250" cy="697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612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4458792-54A2-436D-80B7-A570B843E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C08AB1-28DF-466A-99EA-6ABD312029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C5F2D6-A474-4720-9F46-97F1801E15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22C407-44E2-404D-9A04-027BE63DF907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42663C-7F4C-4B17-BF9D-D15161808B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02A80E-AFB9-4781-9213-A566B25529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7DBF4-D760-4F29-821D-12A07727C1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2328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B45B48B3-0DEC-46FE-B81B-75A9A0442E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6955665"/>
              </p:ext>
            </p:extLst>
          </p:nvPr>
        </p:nvGraphicFramePr>
        <p:xfrm>
          <a:off x="2" y="746760"/>
          <a:ext cx="12191998" cy="603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7846">
                  <a:extLst>
                    <a:ext uri="{9D8B030D-6E8A-4147-A177-3AD203B41FA5}">
                      <a16:colId xmlns:a16="http://schemas.microsoft.com/office/drawing/2014/main" val="850481924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3488969403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3391528745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2535877797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2689559643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2265466435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1976988003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1574178043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3021067075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328677462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1715696672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3631068124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27367799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Acyclovir</a:t>
                      </a:r>
                      <a:endParaRPr lang="ko-KR" altLang="en-US" sz="10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err="1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Caspofungin</a:t>
                      </a:r>
                      <a:endParaRPr lang="ko-KR" altLang="en-US" sz="10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err="1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Cefepim</a:t>
                      </a:r>
                      <a:endParaRPr lang="ko-KR" altLang="en-US" sz="10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Ceftriaxone</a:t>
                      </a:r>
                      <a:endParaRPr lang="ko-KR" altLang="en-US" sz="10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Ciprofloxacin</a:t>
                      </a:r>
                      <a:endParaRPr lang="ko-KR" altLang="en-US" sz="10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Fluconazole</a:t>
                      </a:r>
                      <a:endParaRPr lang="ko-KR" altLang="en-US" sz="10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Levofloxacin</a:t>
                      </a:r>
                      <a:endParaRPr lang="ko-KR" altLang="en-US" sz="10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Linezolid</a:t>
                      </a:r>
                      <a:endParaRPr lang="ko-KR" altLang="en-US" sz="10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Meropenem</a:t>
                      </a:r>
                      <a:endParaRPr lang="ko-KR" altLang="en-US" sz="10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Piperacillin</a:t>
                      </a:r>
                    </a:p>
                    <a:p>
                      <a:pPr algn="ctr" latinLnBrk="1"/>
                      <a:r>
                        <a:rPr lang="en-US" altLang="ko-KR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/</a:t>
                      </a:r>
                      <a:r>
                        <a:rPr lang="en-US" altLang="ko-KR" sz="1000" b="1" dirty="0" err="1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tazopactam</a:t>
                      </a:r>
                      <a:endParaRPr lang="ko-KR" altLang="en-US" sz="10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TMP-SMX</a:t>
                      </a:r>
                      <a:endParaRPr lang="ko-KR" altLang="en-US" sz="10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Vancomycin</a:t>
                      </a:r>
                      <a:endParaRPr lang="ko-KR" altLang="en-US" sz="10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054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Acyclovir</a:t>
                      </a:r>
                      <a:endParaRPr lang="ko-KR" altLang="en-US" sz="10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7233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err="1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Caspofungin</a:t>
                      </a:r>
                      <a:endParaRPr lang="ko-KR" altLang="en-US" sz="10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237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Cefepime</a:t>
                      </a:r>
                      <a:endParaRPr lang="ko-KR" altLang="en-US" sz="10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43009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Ceftriaxone</a:t>
                      </a:r>
                      <a:endParaRPr lang="ko-KR" altLang="en-US" sz="10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433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Ciprofloxacin</a:t>
                      </a:r>
                      <a:endParaRPr lang="ko-KR" altLang="en-US" sz="10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3641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Levofloxacin</a:t>
                      </a:r>
                      <a:endParaRPr lang="ko-KR" altLang="en-US" sz="10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3778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Linezolid</a:t>
                      </a:r>
                      <a:endParaRPr lang="ko-KR" altLang="en-US" sz="10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1344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Liposomal </a:t>
                      </a:r>
                      <a:r>
                        <a:rPr lang="en-US" altLang="ko-KR" sz="1000" b="1" dirty="0" err="1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ampho</a:t>
                      </a:r>
                      <a:r>
                        <a:rPr lang="en-US" altLang="ko-KR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 B</a:t>
                      </a:r>
                      <a:endParaRPr lang="ko-KR" altLang="en-US" sz="10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2918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Meropenem</a:t>
                      </a:r>
                      <a:endParaRPr lang="ko-KR" altLang="en-US" sz="10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749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Metronidazole</a:t>
                      </a:r>
                      <a:endParaRPr lang="ko-KR" altLang="en-US" sz="10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  <a:p>
                      <a:pPr algn="ctr" latinLnBrk="1"/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34322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Micafungin</a:t>
                      </a:r>
                      <a:endParaRPr lang="ko-KR" altLang="en-US" sz="10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6956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Piperacillin</a:t>
                      </a:r>
                    </a:p>
                    <a:p>
                      <a:pPr algn="ctr" latinLnBrk="1"/>
                      <a:r>
                        <a:rPr lang="en-US" altLang="ko-KR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/tazobactam</a:t>
                      </a:r>
                      <a:endParaRPr lang="ko-KR" altLang="en-US" sz="10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67018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TMP-SMX</a:t>
                      </a:r>
                      <a:endParaRPr lang="ko-KR" altLang="en-US" sz="10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1923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Vancomycin</a:t>
                      </a:r>
                      <a:endParaRPr lang="ko-KR" altLang="en-US" sz="10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1670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Voriconazole</a:t>
                      </a:r>
                      <a:endParaRPr lang="ko-KR" altLang="en-US" sz="10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F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610355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21F25F5-E111-4915-8978-73C7B69DFD1A}"/>
              </a:ext>
            </a:extLst>
          </p:cNvPr>
          <p:cNvSpPr txBox="1"/>
          <p:nvPr/>
        </p:nvSpPr>
        <p:spPr>
          <a:xfrm>
            <a:off x="429294" y="115130"/>
            <a:ext cx="36839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항생제 병용 투여</a:t>
            </a:r>
            <a:endParaRPr lang="en-US" altLang="ko-KR" sz="32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grpSp>
        <p:nvGrpSpPr>
          <p:cNvPr id="8" name="Group 15">
            <a:extLst>
              <a:ext uri="{FF2B5EF4-FFF2-40B4-BE49-F238E27FC236}">
                <a16:creationId xmlns:a16="http://schemas.microsoft.com/office/drawing/2014/main" id="{84491B08-6252-4EC1-A384-1DCB90DE2D02}"/>
              </a:ext>
            </a:extLst>
          </p:cNvPr>
          <p:cNvGrpSpPr>
            <a:grpSpLocks noChangeAspect="1"/>
          </p:cNvGrpSpPr>
          <p:nvPr/>
        </p:nvGrpSpPr>
        <p:grpSpPr>
          <a:xfrm>
            <a:off x="90255" y="131140"/>
            <a:ext cx="410026" cy="426372"/>
            <a:chOff x="0" y="0"/>
            <a:chExt cx="926808" cy="963752"/>
          </a:xfrm>
        </p:grpSpPr>
        <p:sp>
          <p:nvSpPr>
            <p:cNvPr id="10" name="Freeform 16">
              <a:extLst>
                <a:ext uri="{FF2B5EF4-FFF2-40B4-BE49-F238E27FC236}">
                  <a16:creationId xmlns:a16="http://schemas.microsoft.com/office/drawing/2014/main" id="{1FBAA3AC-A709-4961-A1CF-E6F0D1650F5D}"/>
                </a:ext>
              </a:extLst>
            </p:cNvPr>
            <p:cNvSpPr/>
            <p:nvPr/>
          </p:nvSpPr>
          <p:spPr>
            <a:xfrm>
              <a:off x="415163" y="63500"/>
              <a:ext cx="96520" cy="688213"/>
            </a:xfrm>
            <a:custGeom>
              <a:avLst/>
              <a:gdLst/>
              <a:ahLst/>
              <a:cxnLst/>
              <a:rect l="l" t="t" r="r" b="b"/>
              <a:pathLst>
                <a:path w="96520" h="688213">
                  <a:moveTo>
                    <a:pt x="96520" y="224409"/>
                  </a:moveTo>
                  <a:cubicBezTo>
                    <a:pt x="96520" y="53467"/>
                    <a:pt x="48260" y="0"/>
                    <a:pt x="48260" y="0"/>
                  </a:cubicBezTo>
                  <a:cubicBezTo>
                    <a:pt x="48260" y="0"/>
                    <a:pt x="0" y="53467"/>
                    <a:pt x="0" y="224409"/>
                  </a:cubicBezTo>
                  <a:cubicBezTo>
                    <a:pt x="0" y="395351"/>
                    <a:pt x="48260" y="688213"/>
                    <a:pt x="48260" y="688213"/>
                  </a:cubicBezTo>
                  <a:cubicBezTo>
                    <a:pt x="48260" y="688213"/>
                    <a:pt x="96520" y="395351"/>
                    <a:pt x="96520" y="224409"/>
                  </a:cubicBezTo>
                </a:path>
              </a:pathLst>
            </a:custGeom>
            <a:solidFill>
              <a:srgbClr val="DE5A17"/>
            </a:solidFill>
          </p:spPr>
        </p:sp>
        <p:sp>
          <p:nvSpPr>
            <p:cNvPr id="11" name="Freeform 17">
              <a:extLst>
                <a:ext uri="{FF2B5EF4-FFF2-40B4-BE49-F238E27FC236}">
                  <a16:creationId xmlns:a16="http://schemas.microsoft.com/office/drawing/2014/main" id="{B40008A7-ADAC-48CC-8783-B0980628A052}"/>
                </a:ext>
              </a:extLst>
            </p:cNvPr>
            <p:cNvSpPr/>
            <p:nvPr/>
          </p:nvSpPr>
          <p:spPr>
            <a:xfrm>
              <a:off x="267911" y="130683"/>
              <a:ext cx="164651" cy="592455"/>
            </a:xfrm>
            <a:custGeom>
              <a:avLst/>
              <a:gdLst/>
              <a:ahLst/>
              <a:cxnLst/>
              <a:rect l="l" t="t" r="r" b="b"/>
              <a:pathLst>
                <a:path w="164651" h="592455">
                  <a:moveTo>
                    <a:pt x="567" y="213868"/>
                  </a:moveTo>
                  <a:cubicBezTo>
                    <a:pt x="-7942" y="83693"/>
                    <a:pt x="82101" y="0"/>
                    <a:pt x="82101" y="0"/>
                  </a:cubicBezTo>
                  <a:cubicBezTo>
                    <a:pt x="82101" y="0"/>
                    <a:pt x="62416" y="76454"/>
                    <a:pt x="71306" y="191897"/>
                  </a:cubicBezTo>
                  <a:cubicBezTo>
                    <a:pt x="77402" y="270256"/>
                    <a:pt x="95690" y="347980"/>
                    <a:pt x="117280" y="423418"/>
                  </a:cubicBezTo>
                  <a:cubicBezTo>
                    <a:pt x="130869" y="470535"/>
                    <a:pt x="164651" y="592455"/>
                    <a:pt x="164651" y="592455"/>
                  </a:cubicBezTo>
                  <a:cubicBezTo>
                    <a:pt x="164651" y="592455"/>
                    <a:pt x="131885" y="528828"/>
                    <a:pt x="73338" y="426847"/>
                  </a:cubicBezTo>
                  <a:cubicBezTo>
                    <a:pt x="32952" y="356616"/>
                    <a:pt x="5266" y="286004"/>
                    <a:pt x="440" y="213741"/>
                  </a:cubicBezTo>
                </a:path>
              </a:pathLst>
            </a:custGeom>
            <a:solidFill>
              <a:srgbClr val="DE5A17"/>
            </a:solidFill>
          </p:spPr>
        </p:sp>
        <p:sp>
          <p:nvSpPr>
            <p:cNvPr id="12" name="Freeform 18">
              <a:extLst>
                <a:ext uri="{FF2B5EF4-FFF2-40B4-BE49-F238E27FC236}">
                  <a16:creationId xmlns:a16="http://schemas.microsoft.com/office/drawing/2014/main" id="{036FE10C-951C-4F13-9398-2D53A95413E3}"/>
                </a:ext>
              </a:extLst>
            </p:cNvPr>
            <p:cNvSpPr/>
            <p:nvPr/>
          </p:nvSpPr>
          <p:spPr>
            <a:xfrm>
              <a:off x="160369" y="280035"/>
              <a:ext cx="182277" cy="344678"/>
            </a:xfrm>
            <a:custGeom>
              <a:avLst/>
              <a:gdLst/>
              <a:ahLst/>
              <a:cxnLst/>
              <a:rect l="l" t="t" r="r" b="b"/>
              <a:pathLst>
                <a:path w="182277" h="344678">
                  <a:moveTo>
                    <a:pt x="1683" y="131318"/>
                  </a:moveTo>
                  <a:cubicBezTo>
                    <a:pt x="-10128" y="53086"/>
                    <a:pt x="43974" y="2921"/>
                    <a:pt x="47022" y="0"/>
                  </a:cubicBezTo>
                  <a:cubicBezTo>
                    <a:pt x="47022" y="0"/>
                    <a:pt x="39656" y="46736"/>
                    <a:pt x="51340" y="108839"/>
                  </a:cubicBezTo>
                  <a:cubicBezTo>
                    <a:pt x="57436" y="140970"/>
                    <a:pt x="69374" y="175895"/>
                    <a:pt x="88043" y="206629"/>
                  </a:cubicBezTo>
                  <a:cubicBezTo>
                    <a:pt x="128937" y="273939"/>
                    <a:pt x="182277" y="344678"/>
                    <a:pt x="182277" y="344678"/>
                  </a:cubicBezTo>
                  <a:cubicBezTo>
                    <a:pt x="182277" y="344678"/>
                    <a:pt x="108617" y="278130"/>
                    <a:pt x="61881" y="234569"/>
                  </a:cubicBezTo>
                  <a:cubicBezTo>
                    <a:pt x="34957" y="209423"/>
                    <a:pt x="8160" y="174371"/>
                    <a:pt x="1683" y="131318"/>
                  </a:cubicBezTo>
                </a:path>
              </a:pathLst>
            </a:custGeom>
            <a:solidFill>
              <a:srgbClr val="DE5A17"/>
            </a:solidFill>
          </p:spPr>
        </p:sp>
        <p:sp>
          <p:nvSpPr>
            <p:cNvPr id="13" name="Freeform 19">
              <a:extLst>
                <a:ext uri="{FF2B5EF4-FFF2-40B4-BE49-F238E27FC236}">
                  <a16:creationId xmlns:a16="http://schemas.microsoft.com/office/drawing/2014/main" id="{EFB6FE08-2BDC-4051-8F18-3E40D5C9FD04}"/>
                </a:ext>
              </a:extLst>
            </p:cNvPr>
            <p:cNvSpPr/>
            <p:nvPr/>
          </p:nvSpPr>
          <p:spPr>
            <a:xfrm>
              <a:off x="494157" y="130683"/>
              <a:ext cx="164651" cy="592455"/>
            </a:xfrm>
            <a:custGeom>
              <a:avLst/>
              <a:gdLst/>
              <a:ahLst/>
              <a:cxnLst/>
              <a:rect l="l" t="t" r="r" b="b"/>
              <a:pathLst>
                <a:path w="164651" h="592455">
                  <a:moveTo>
                    <a:pt x="164084" y="213868"/>
                  </a:moveTo>
                  <a:cubicBezTo>
                    <a:pt x="172593" y="83693"/>
                    <a:pt x="82550" y="0"/>
                    <a:pt x="82550" y="0"/>
                  </a:cubicBezTo>
                  <a:cubicBezTo>
                    <a:pt x="82550" y="0"/>
                    <a:pt x="102235" y="76454"/>
                    <a:pt x="93345" y="191897"/>
                  </a:cubicBezTo>
                  <a:cubicBezTo>
                    <a:pt x="87249" y="270256"/>
                    <a:pt x="68961" y="347980"/>
                    <a:pt x="47371" y="423418"/>
                  </a:cubicBezTo>
                  <a:cubicBezTo>
                    <a:pt x="33782" y="470535"/>
                    <a:pt x="0" y="592455"/>
                    <a:pt x="0" y="592455"/>
                  </a:cubicBezTo>
                  <a:cubicBezTo>
                    <a:pt x="0" y="592455"/>
                    <a:pt x="32766" y="528828"/>
                    <a:pt x="91313" y="426847"/>
                  </a:cubicBezTo>
                  <a:cubicBezTo>
                    <a:pt x="131699" y="356616"/>
                    <a:pt x="159385" y="286004"/>
                    <a:pt x="164211" y="213741"/>
                  </a:cubicBezTo>
                </a:path>
              </a:pathLst>
            </a:custGeom>
            <a:solidFill>
              <a:srgbClr val="DE5A17"/>
            </a:solidFill>
          </p:spPr>
        </p:sp>
        <p:sp>
          <p:nvSpPr>
            <p:cNvPr id="14" name="Freeform 20">
              <a:extLst>
                <a:ext uri="{FF2B5EF4-FFF2-40B4-BE49-F238E27FC236}">
                  <a16:creationId xmlns:a16="http://schemas.microsoft.com/office/drawing/2014/main" id="{298683EC-CDDC-4E9F-8818-B2EEE36E37C4}"/>
                </a:ext>
              </a:extLst>
            </p:cNvPr>
            <p:cNvSpPr/>
            <p:nvPr/>
          </p:nvSpPr>
          <p:spPr>
            <a:xfrm>
              <a:off x="584073" y="280035"/>
              <a:ext cx="182277" cy="344678"/>
            </a:xfrm>
            <a:custGeom>
              <a:avLst/>
              <a:gdLst/>
              <a:ahLst/>
              <a:cxnLst/>
              <a:rect l="l" t="t" r="r" b="b"/>
              <a:pathLst>
                <a:path w="182277" h="344678">
                  <a:moveTo>
                    <a:pt x="180594" y="131318"/>
                  </a:moveTo>
                  <a:cubicBezTo>
                    <a:pt x="192405" y="53086"/>
                    <a:pt x="138303" y="2921"/>
                    <a:pt x="135255" y="0"/>
                  </a:cubicBezTo>
                  <a:cubicBezTo>
                    <a:pt x="135255" y="0"/>
                    <a:pt x="142621" y="46736"/>
                    <a:pt x="130937" y="108839"/>
                  </a:cubicBezTo>
                  <a:cubicBezTo>
                    <a:pt x="124841" y="140970"/>
                    <a:pt x="112903" y="175895"/>
                    <a:pt x="94234" y="206629"/>
                  </a:cubicBezTo>
                  <a:cubicBezTo>
                    <a:pt x="53340" y="273939"/>
                    <a:pt x="0" y="344678"/>
                    <a:pt x="0" y="344678"/>
                  </a:cubicBezTo>
                  <a:cubicBezTo>
                    <a:pt x="0" y="344678"/>
                    <a:pt x="73660" y="278130"/>
                    <a:pt x="120396" y="234569"/>
                  </a:cubicBezTo>
                  <a:cubicBezTo>
                    <a:pt x="147320" y="209423"/>
                    <a:pt x="174117" y="174371"/>
                    <a:pt x="180594" y="131318"/>
                  </a:cubicBezTo>
                </a:path>
              </a:pathLst>
            </a:custGeom>
            <a:solidFill>
              <a:srgbClr val="DE5A17"/>
            </a:solidFill>
          </p:spPr>
        </p:sp>
        <p:sp>
          <p:nvSpPr>
            <p:cNvPr id="15" name="Freeform 21">
              <a:extLst>
                <a:ext uri="{FF2B5EF4-FFF2-40B4-BE49-F238E27FC236}">
                  <a16:creationId xmlns:a16="http://schemas.microsoft.com/office/drawing/2014/main" id="{1FF4D013-474C-45B8-95C2-31C2AD213B43}"/>
                </a:ext>
              </a:extLst>
            </p:cNvPr>
            <p:cNvSpPr/>
            <p:nvPr/>
          </p:nvSpPr>
          <p:spPr>
            <a:xfrm>
              <a:off x="63466" y="449834"/>
              <a:ext cx="399957" cy="450469"/>
            </a:xfrm>
            <a:custGeom>
              <a:avLst/>
              <a:gdLst/>
              <a:ahLst/>
              <a:cxnLst/>
              <a:rect l="l" t="t" r="r" b="b"/>
              <a:pathLst>
                <a:path w="399957" h="450469">
                  <a:moveTo>
                    <a:pt x="399957" y="384556"/>
                  </a:moveTo>
                  <a:lnTo>
                    <a:pt x="399957" y="450469"/>
                  </a:lnTo>
                  <a:cubicBezTo>
                    <a:pt x="350808" y="450469"/>
                    <a:pt x="307501" y="441325"/>
                    <a:pt x="280323" y="432689"/>
                  </a:cubicBezTo>
                  <a:cubicBezTo>
                    <a:pt x="308517" y="420243"/>
                    <a:pt x="334298" y="398653"/>
                    <a:pt x="337981" y="392938"/>
                  </a:cubicBezTo>
                  <a:cubicBezTo>
                    <a:pt x="244763" y="439293"/>
                    <a:pt x="144433" y="383667"/>
                    <a:pt x="107095" y="326390"/>
                  </a:cubicBezTo>
                  <a:cubicBezTo>
                    <a:pt x="160943" y="350774"/>
                    <a:pt x="256955" y="357378"/>
                    <a:pt x="283752" y="344678"/>
                  </a:cubicBezTo>
                  <a:cubicBezTo>
                    <a:pt x="190788" y="334899"/>
                    <a:pt x="129447" y="310261"/>
                    <a:pt x="86013" y="276098"/>
                  </a:cubicBezTo>
                  <a:cubicBezTo>
                    <a:pt x="923" y="209042"/>
                    <a:pt x="-9745" y="88646"/>
                    <a:pt x="6257" y="0"/>
                  </a:cubicBezTo>
                  <a:cubicBezTo>
                    <a:pt x="36102" y="96774"/>
                    <a:pt x="194979" y="172466"/>
                    <a:pt x="245144" y="200660"/>
                  </a:cubicBezTo>
                  <a:cubicBezTo>
                    <a:pt x="386114" y="280035"/>
                    <a:pt x="307374" y="337566"/>
                    <a:pt x="399957" y="384429"/>
                  </a:cubicBezTo>
                </a:path>
              </a:pathLst>
            </a:custGeom>
            <a:solidFill>
              <a:srgbClr val="014373"/>
            </a:solidFill>
          </p:spPr>
        </p:sp>
        <p:sp>
          <p:nvSpPr>
            <p:cNvPr id="16" name="Freeform 22">
              <a:extLst>
                <a:ext uri="{FF2B5EF4-FFF2-40B4-BE49-F238E27FC236}">
                  <a16:creationId xmlns:a16="http://schemas.microsoft.com/office/drawing/2014/main" id="{B65B0A28-3D56-4C1F-9969-EFBC2C36C155}"/>
                </a:ext>
              </a:extLst>
            </p:cNvPr>
            <p:cNvSpPr/>
            <p:nvPr/>
          </p:nvSpPr>
          <p:spPr>
            <a:xfrm>
              <a:off x="463423" y="449834"/>
              <a:ext cx="399957" cy="450469"/>
            </a:xfrm>
            <a:custGeom>
              <a:avLst/>
              <a:gdLst/>
              <a:ahLst/>
              <a:cxnLst/>
              <a:rect l="l" t="t" r="r" b="b"/>
              <a:pathLst>
                <a:path w="399957" h="450469">
                  <a:moveTo>
                    <a:pt x="0" y="384556"/>
                  </a:moveTo>
                  <a:lnTo>
                    <a:pt x="0" y="450469"/>
                  </a:lnTo>
                  <a:cubicBezTo>
                    <a:pt x="49149" y="450469"/>
                    <a:pt x="92456" y="441325"/>
                    <a:pt x="119634" y="432689"/>
                  </a:cubicBezTo>
                  <a:cubicBezTo>
                    <a:pt x="91440" y="420243"/>
                    <a:pt x="65659" y="398653"/>
                    <a:pt x="61976" y="392938"/>
                  </a:cubicBezTo>
                  <a:cubicBezTo>
                    <a:pt x="155194" y="439293"/>
                    <a:pt x="255524" y="383667"/>
                    <a:pt x="292862" y="326390"/>
                  </a:cubicBezTo>
                  <a:cubicBezTo>
                    <a:pt x="239014" y="350774"/>
                    <a:pt x="143002" y="357378"/>
                    <a:pt x="116205" y="344678"/>
                  </a:cubicBezTo>
                  <a:cubicBezTo>
                    <a:pt x="209169" y="334899"/>
                    <a:pt x="270510" y="310261"/>
                    <a:pt x="313944" y="276098"/>
                  </a:cubicBezTo>
                  <a:cubicBezTo>
                    <a:pt x="399034" y="209042"/>
                    <a:pt x="409702" y="88646"/>
                    <a:pt x="393700" y="0"/>
                  </a:cubicBezTo>
                  <a:cubicBezTo>
                    <a:pt x="363855" y="96774"/>
                    <a:pt x="204978" y="172466"/>
                    <a:pt x="154813" y="200660"/>
                  </a:cubicBezTo>
                  <a:cubicBezTo>
                    <a:pt x="13843" y="280035"/>
                    <a:pt x="92583" y="337566"/>
                    <a:pt x="0" y="384429"/>
                  </a:cubicBezTo>
                </a:path>
              </a:pathLst>
            </a:custGeom>
            <a:solidFill>
              <a:srgbClr val="014373"/>
            </a:solidFill>
          </p:spPr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5AAFBB84-4F54-4208-84CC-BA2B06645882}"/>
              </a:ext>
            </a:extLst>
          </p:cNvPr>
          <p:cNvSpPr txBox="1"/>
          <p:nvPr/>
        </p:nvSpPr>
        <p:spPr>
          <a:xfrm>
            <a:off x="9228992" y="423250"/>
            <a:ext cx="296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/>
              <a:t>(N</a:t>
            </a:r>
            <a:r>
              <a:rPr lang="ko-KR" altLang="en-US" sz="1400" dirty="0"/>
              <a:t>은 적절한 근거 없음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699890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B45B48B3-0DEC-46FE-B81B-75A9A0442E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0894138"/>
              </p:ext>
            </p:extLst>
          </p:nvPr>
        </p:nvGraphicFramePr>
        <p:xfrm>
          <a:off x="2" y="746760"/>
          <a:ext cx="12191998" cy="6009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7846">
                  <a:extLst>
                    <a:ext uri="{9D8B030D-6E8A-4147-A177-3AD203B41FA5}">
                      <a16:colId xmlns:a16="http://schemas.microsoft.com/office/drawing/2014/main" val="850481924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3488969403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3391528745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2535877797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2689559643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2265466435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1976988003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1574178043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3021067075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328677462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1715696672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3631068124"/>
                    </a:ext>
                  </a:extLst>
                </a:gridCol>
                <a:gridCol w="937846">
                  <a:extLst>
                    <a:ext uri="{9D8B030D-6E8A-4147-A177-3AD203B41FA5}">
                      <a16:colId xmlns:a16="http://schemas.microsoft.com/office/drawing/2014/main" val="27367799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Acyclovir</a:t>
                      </a:r>
                      <a:endParaRPr lang="ko-KR" altLang="en-US" sz="10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err="1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Caspofungin</a:t>
                      </a:r>
                      <a:endParaRPr lang="ko-KR" altLang="en-US" sz="10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err="1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Cefepim</a:t>
                      </a:r>
                      <a:endParaRPr lang="ko-KR" altLang="en-US" sz="10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Ceftriaxone</a:t>
                      </a:r>
                      <a:endParaRPr lang="ko-KR" altLang="en-US" sz="10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Ciprofloxacin</a:t>
                      </a:r>
                      <a:endParaRPr lang="ko-KR" altLang="en-US" sz="10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Fluconazole</a:t>
                      </a:r>
                      <a:endParaRPr lang="ko-KR" altLang="en-US" sz="10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Levofloxacin</a:t>
                      </a:r>
                      <a:endParaRPr lang="ko-KR" altLang="en-US" sz="10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Linezolid</a:t>
                      </a:r>
                      <a:endParaRPr lang="ko-KR" altLang="en-US" sz="10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Meropenem</a:t>
                      </a:r>
                      <a:endParaRPr lang="ko-KR" altLang="en-US" sz="10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Piperacillin</a:t>
                      </a:r>
                    </a:p>
                    <a:p>
                      <a:pPr algn="ctr" latinLnBrk="1"/>
                      <a:r>
                        <a:rPr lang="en-US" altLang="ko-KR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/</a:t>
                      </a:r>
                      <a:r>
                        <a:rPr lang="en-US" altLang="ko-KR" sz="1000" b="1" dirty="0" err="1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tazopactam</a:t>
                      </a:r>
                      <a:endParaRPr lang="ko-KR" altLang="en-US" sz="10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TMP-SMX</a:t>
                      </a:r>
                      <a:endParaRPr lang="ko-KR" altLang="en-US" sz="10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Vancomycin</a:t>
                      </a:r>
                      <a:endParaRPr lang="ko-KR" altLang="en-US" sz="10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054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Acyclovir</a:t>
                      </a:r>
                      <a:endParaRPr lang="ko-KR" altLang="en-US" sz="10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7233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err="1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Caspofungin</a:t>
                      </a:r>
                      <a:endParaRPr lang="ko-KR" altLang="en-US" sz="10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237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Cefepime</a:t>
                      </a:r>
                      <a:endParaRPr lang="ko-KR" altLang="en-US" sz="10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43009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Ceftriaxone</a:t>
                      </a:r>
                      <a:endParaRPr lang="ko-KR" altLang="en-US" sz="10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433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Ciprofloxacin</a:t>
                      </a:r>
                      <a:endParaRPr lang="ko-KR" altLang="en-US" sz="10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3641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Levofloxacin</a:t>
                      </a:r>
                      <a:endParaRPr lang="ko-KR" altLang="en-US" sz="10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3778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Linezolid</a:t>
                      </a:r>
                      <a:endParaRPr lang="ko-KR" altLang="en-US" sz="10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1344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Liposomal </a:t>
                      </a:r>
                      <a:r>
                        <a:rPr lang="en-US" altLang="ko-KR" sz="1000" b="1" dirty="0" err="1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ampho</a:t>
                      </a:r>
                      <a:r>
                        <a:rPr lang="en-US" altLang="ko-KR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 B</a:t>
                      </a:r>
                      <a:endParaRPr lang="ko-KR" altLang="en-US" sz="10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2918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Meropenem</a:t>
                      </a:r>
                      <a:endParaRPr lang="ko-KR" altLang="en-US" sz="10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749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Metronidazole</a:t>
                      </a:r>
                      <a:endParaRPr lang="ko-KR" altLang="en-US" sz="10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34322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Micafungin</a:t>
                      </a:r>
                      <a:endParaRPr lang="ko-KR" altLang="en-US" sz="10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6956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Piperacillin</a:t>
                      </a:r>
                    </a:p>
                    <a:p>
                      <a:pPr algn="ctr" latinLnBrk="1"/>
                      <a:r>
                        <a:rPr lang="en-US" altLang="ko-KR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/tazobactam</a:t>
                      </a:r>
                      <a:endParaRPr lang="ko-KR" altLang="en-US" sz="10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67018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TMP-SMX</a:t>
                      </a:r>
                      <a:endParaRPr lang="ko-KR" altLang="en-US" sz="10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</a:t>
                      </a:r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1923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Vancomycin</a:t>
                      </a:r>
                      <a:endParaRPr lang="ko-KR" altLang="en-US" sz="10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1670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Voriconazole</a:t>
                      </a:r>
                      <a:endParaRPr lang="ko-KR" altLang="en-US" sz="10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610355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21F25F5-E111-4915-8978-73C7B69DFD1A}"/>
              </a:ext>
            </a:extLst>
          </p:cNvPr>
          <p:cNvSpPr txBox="1"/>
          <p:nvPr/>
        </p:nvSpPr>
        <p:spPr>
          <a:xfrm>
            <a:off x="429294" y="115130"/>
            <a:ext cx="36839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휴먼엑스포" panose="02030504000101010101" pitchFamily="18" charset="-127"/>
                <a:ea typeface="휴먼엑스포" panose="02030504000101010101" pitchFamily="18" charset="-127"/>
              </a:rPr>
              <a:t>항생제 병용 투여</a:t>
            </a:r>
            <a:endParaRPr lang="en-US" altLang="ko-KR" sz="3200" dirty="0"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grpSp>
        <p:nvGrpSpPr>
          <p:cNvPr id="8" name="Group 15">
            <a:extLst>
              <a:ext uri="{FF2B5EF4-FFF2-40B4-BE49-F238E27FC236}">
                <a16:creationId xmlns:a16="http://schemas.microsoft.com/office/drawing/2014/main" id="{84491B08-6252-4EC1-A384-1DCB90DE2D02}"/>
              </a:ext>
            </a:extLst>
          </p:cNvPr>
          <p:cNvGrpSpPr>
            <a:grpSpLocks noChangeAspect="1"/>
          </p:cNvGrpSpPr>
          <p:nvPr/>
        </p:nvGrpSpPr>
        <p:grpSpPr>
          <a:xfrm>
            <a:off x="90255" y="131140"/>
            <a:ext cx="410026" cy="426372"/>
            <a:chOff x="0" y="0"/>
            <a:chExt cx="926808" cy="963752"/>
          </a:xfrm>
        </p:grpSpPr>
        <p:sp>
          <p:nvSpPr>
            <p:cNvPr id="10" name="Freeform 16">
              <a:extLst>
                <a:ext uri="{FF2B5EF4-FFF2-40B4-BE49-F238E27FC236}">
                  <a16:creationId xmlns:a16="http://schemas.microsoft.com/office/drawing/2014/main" id="{1FBAA3AC-A709-4961-A1CF-E6F0D1650F5D}"/>
                </a:ext>
              </a:extLst>
            </p:cNvPr>
            <p:cNvSpPr/>
            <p:nvPr/>
          </p:nvSpPr>
          <p:spPr>
            <a:xfrm>
              <a:off x="415163" y="63500"/>
              <a:ext cx="96520" cy="688213"/>
            </a:xfrm>
            <a:custGeom>
              <a:avLst/>
              <a:gdLst/>
              <a:ahLst/>
              <a:cxnLst/>
              <a:rect l="l" t="t" r="r" b="b"/>
              <a:pathLst>
                <a:path w="96520" h="688213">
                  <a:moveTo>
                    <a:pt x="96520" y="224409"/>
                  </a:moveTo>
                  <a:cubicBezTo>
                    <a:pt x="96520" y="53467"/>
                    <a:pt x="48260" y="0"/>
                    <a:pt x="48260" y="0"/>
                  </a:cubicBezTo>
                  <a:cubicBezTo>
                    <a:pt x="48260" y="0"/>
                    <a:pt x="0" y="53467"/>
                    <a:pt x="0" y="224409"/>
                  </a:cubicBezTo>
                  <a:cubicBezTo>
                    <a:pt x="0" y="395351"/>
                    <a:pt x="48260" y="688213"/>
                    <a:pt x="48260" y="688213"/>
                  </a:cubicBezTo>
                  <a:cubicBezTo>
                    <a:pt x="48260" y="688213"/>
                    <a:pt x="96520" y="395351"/>
                    <a:pt x="96520" y="224409"/>
                  </a:cubicBezTo>
                </a:path>
              </a:pathLst>
            </a:custGeom>
            <a:solidFill>
              <a:srgbClr val="DE5A17"/>
            </a:solidFill>
          </p:spPr>
        </p:sp>
        <p:sp>
          <p:nvSpPr>
            <p:cNvPr id="11" name="Freeform 17">
              <a:extLst>
                <a:ext uri="{FF2B5EF4-FFF2-40B4-BE49-F238E27FC236}">
                  <a16:creationId xmlns:a16="http://schemas.microsoft.com/office/drawing/2014/main" id="{B40008A7-ADAC-48CC-8783-B0980628A052}"/>
                </a:ext>
              </a:extLst>
            </p:cNvPr>
            <p:cNvSpPr/>
            <p:nvPr/>
          </p:nvSpPr>
          <p:spPr>
            <a:xfrm>
              <a:off x="267911" y="130683"/>
              <a:ext cx="164651" cy="592455"/>
            </a:xfrm>
            <a:custGeom>
              <a:avLst/>
              <a:gdLst/>
              <a:ahLst/>
              <a:cxnLst/>
              <a:rect l="l" t="t" r="r" b="b"/>
              <a:pathLst>
                <a:path w="164651" h="592455">
                  <a:moveTo>
                    <a:pt x="567" y="213868"/>
                  </a:moveTo>
                  <a:cubicBezTo>
                    <a:pt x="-7942" y="83693"/>
                    <a:pt x="82101" y="0"/>
                    <a:pt x="82101" y="0"/>
                  </a:cubicBezTo>
                  <a:cubicBezTo>
                    <a:pt x="82101" y="0"/>
                    <a:pt x="62416" y="76454"/>
                    <a:pt x="71306" y="191897"/>
                  </a:cubicBezTo>
                  <a:cubicBezTo>
                    <a:pt x="77402" y="270256"/>
                    <a:pt x="95690" y="347980"/>
                    <a:pt x="117280" y="423418"/>
                  </a:cubicBezTo>
                  <a:cubicBezTo>
                    <a:pt x="130869" y="470535"/>
                    <a:pt x="164651" y="592455"/>
                    <a:pt x="164651" y="592455"/>
                  </a:cubicBezTo>
                  <a:cubicBezTo>
                    <a:pt x="164651" y="592455"/>
                    <a:pt x="131885" y="528828"/>
                    <a:pt x="73338" y="426847"/>
                  </a:cubicBezTo>
                  <a:cubicBezTo>
                    <a:pt x="32952" y="356616"/>
                    <a:pt x="5266" y="286004"/>
                    <a:pt x="440" y="213741"/>
                  </a:cubicBezTo>
                </a:path>
              </a:pathLst>
            </a:custGeom>
            <a:solidFill>
              <a:srgbClr val="DE5A17"/>
            </a:solidFill>
          </p:spPr>
        </p:sp>
        <p:sp>
          <p:nvSpPr>
            <p:cNvPr id="12" name="Freeform 18">
              <a:extLst>
                <a:ext uri="{FF2B5EF4-FFF2-40B4-BE49-F238E27FC236}">
                  <a16:creationId xmlns:a16="http://schemas.microsoft.com/office/drawing/2014/main" id="{036FE10C-951C-4F13-9398-2D53A95413E3}"/>
                </a:ext>
              </a:extLst>
            </p:cNvPr>
            <p:cNvSpPr/>
            <p:nvPr/>
          </p:nvSpPr>
          <p:spPr>
            <a:xfrm>
              <a:off x="160369" y="280035"/>
              <a:ext cx="182277" cy="344678"/>
            </a:xfrm>
            <a:custGeom>
              <a:avLst/>
              <a:gdLst/>
              <a:ahLst/>
              <a:cxnLst/>
              <a:rect l="l" t="t" r="r" b="b"/>
              <a:pathLst>
                <a:path w="182277" h="344678">
                  <a:moveTo>
                    <a:pt x="1683" y="131318"/>
                  </a:moveTo>
                  <a:cubicBezTo>
                    <a:pt x="-10128" y="53086"/>
                    <a:pt x="43974" y="2921"/>
                    <a:pt x="47022" y="0"/>
                  </a:cubicBezTo>
                  <a:cubicBezTo>
                    <a:pt x="47022" y="0"/>
                    <a:pt x="39656" y="46736"/>
                    <a:pt x="51340" y="108839"/>
                  </a:cubicBezTo>
                  <a:cubicBezTo>
                    <a:pt x="57436" y="140970"/>
                    <a:pt x="69374" y="175895"/>
                    <a:pt x="88043" y="206629"/>
                  </a:cubicBezTo>
                  <a:cubicBezTo>
                    <a:pt x="128937" y="273939"/>
                    <a:pt x="182277" y="344678"/>
                    <a:pt x="182277" y="344678"/>
                  </a:cubicBezTo>
                  <a:cubicBezTo>
                    <a:pt x="182277" y="344678"/>
                    <a:pt x="108617" y="278130"/>
                    <a:pt x="61881" y="234569"/>
                  </a:cubicBezTo>
                  <a:cubicBezTo>
                    <a:pt x="34957" y="209423"/>
                    <a:pt x="8160" y="174371"/>
                    <a:pt x="1683" y="131318"/>
                  </a:cubicBezTo>
                </a:path>
              </a:pathLst>
            </a:custGeom>
            <a:solidFill>
              <a:srgbClr val="DE5A17"/>
            </a:solidFill>
          </p:spPr>
        </p:sp>
        <p:sp>
          <p:nvSpPr>
            <p:cNvPr id="13" name="Freeform 19">
              <a:extLst>
                <a:ext uri="{FF2B5EF4-FFF2-40B4-BE49-F238E27FC236}">
                  <a16:creationId xmlns:a16="http://schemas.microsoft.com/office/drawing/2014/main" id="{EFB6FE08-2BDC-4051-8F18-3E40D5C9FD04}"/>
                </a:ext>
              </a:extLst>
            </p:cNvPr>
            <p:cNvSpPr/>
            <p:nvPr/>
          </p:nvSpPr>
          <p:spPr>
            <a:xfrm>
              <a:off x="494157" y="130683"/>
              <a:ext cx="164651" cy="592455"/>
            </a:xfrm>
            <a:custGeom>
              <a:avLst/>
              <a:gdLst/>
              <a:ahLst/>
              <a:cxnLst/>
              <a:rect l="l" t="t" r="r" b="b"/>
              <a:pathLst>
                <a:path w="164651" h="592455">
                  <a:moveTo>
                    <a:pt x="164084" y="213868"/>
                  </a:moveTo>
                  <a:cubicBezTo>
                    <a:pt x="172593" y="83693"/>
                    <a:pt x="82550" y="0"/>
                    <a:pt x="82550" y="0"/>
                  </a:cubicBezTo>
                  <a:cubicBezTo>
                    <a:pt x="82550" y="0"/>
                    <a:pt x="102235" y="76454"/>
                    <a:pt x="93345" y="191897"/>
                  </a:cubicBezTo>
                  <a:cubicBezTo>
                    <a:pt x="87249" y="270256"/>
                    <a:pt x="68961" y="347980"/>
                    <a:pt x="47371" y="423418"/>
                  </a:cubicBezTo>
                  <a:cubicBezTo>
                    <a:pt x="33782" y="470535"/>
                    <a:pt x="0" y="592455"/>
                    <a:pt x="0" y="592455"/>
                  </a:cubicBezTo>
                  <a:cubicBezTo>
                    <a:pt x="0" y="592455"/>
                    <a:pt x="32766" y="528828"/>
                    <a:pt x="91313" y="426847"/>
                  </a:cubicBezTo>
                  <a:cubicBezTo>
                    <a:pt x="131699" y="356616"/>
                    <a:pt x="159385" y="286004"/>
                    <a:pt x="164211" y="213741"/>
                  </a:cubicBezTo>
                </a:path>
              </a:pathLst>
            </a:custGeom>
            <a:solidFill>
              <a:srgbClr val="DE5A17"/>
            </a:solidFill>
          </p:spPr>
        </p:sp>
        <p:sp>
          <p:nvSpPr>
            <p:cNvPr id="14" name="Freeform 20">
              <a:extLst>
                <a:ext uri="{FF2B5EF4-FFF2-40B4-BE49-F238E27FC236}">
                  <a16:creationId xmlns:a16="http://schemas.microsoft.com/office/drawing/2014/main" id="{298683EC-CDDC-4E9F-8818-B2EEE36E37C4}"/>
                </a:ext>
              </a:extLst>
            </p:cNvPr>
            <p:cNvSpPr/>
            <p:nvPr/>
          </p:nvSpPr>
          <p:spPr>
            <a:xfrm>
              <a:off x="584073" y="280035"/>
              <a:ext cx="182277" cy="344678"/>
            </a:xfrm>
            <a:custGeom>
              <a:avLst/>
              <a:gdLst/>
              <a:ahLst/>
              <a:cxnLst/>
              <a:rect l="l" t="t" r="r" b="b"/>
              <a:pathLst>
                <a:path w="182277" h="344678">
                  <a:moveTo>
                    <a:pt x="180594" y="131318"/>
                  </a:moveTo>
                  <a:cubicBezTo>
                    <a:pt x="192405" y="53086"/>
                    <a:pt x="138303" y="2921"/>
                    <a:pt x="135255" y="0"/>
                  </a:cubicBezTo>
                  <a:cubicBezTo>
                    <a:pt x="135255" y="0"/>
                    <a:pt x="142621" y="46736"/>
                    <a:pt x="130937" y="108839"/>
                  </a:cubicBezTo>
                  <a:cubicBezTo>
                    <a:pt x="124841" y="140970"/>
                    <a:pt x="112903" y="175895"/>
                    <a:pt x="94234" y="206629"/>
                  </a:cubicBezTo>
                  <a:cubicBezTo>
                    <a:pt x="53340" y="273939"/>
                    <a:pt x="0" y="344678"/>
                    <a:pt x="0" y="344678"/>
                  </a:cubicBezTo>
                  <a:cubicBezTo>
                    <a:pt x="0" y="344678"/>
                    <a:pt x="73660" y="278130"/>
                    <a:pt x="120396" y="234569"/>
                  </a:cubicBezTo>
                  <a:cubicBezTo>
                    <a:pt x="147320" y="209423"/>
                    <a:pt x="174117" y="174371"/>
                    <a:pt x="180594" y="131318"/>
                  </a:cubicBezTo>
                </a:path>
              </a:pathLst>
            </a:custGeom>
            <a:solidFill>
              <a:srgbClr val="DE5A17"/>
            </a:solidFill>
          </p:spPr>
        </p:sp>
        <p:sp>
          <p:nvSpPr>
            <p:cNvPr id="15" name="Freeform 21">
              <a:extLst>
                <a:ext uri="{FF2B5EF4-FFF2-40B4-BE49-F238E27FC236}">
                  <a16:creationId xmlns:a16="http://schemas.microsoft.com/office/drawing/2014/main" id="{1FF4D013-474C-45B8-95C2-31C2AD213B43}"/>
                </a:ext>
              </a:extLst>
            </p:cNvPr>
            <p:cNvSpPr/>
            <p:nvPr/>
          </p:nvSpPr>
          <p:spPr>
            <a:xfrm>
              <a:off x="63466" y="449834"/>
              <a:ext cx="399957" cy="450469"/>
            </a:xfrm>
            <a:custGeom>
              <a:avLst/>
              <a:gdLst/>
              <a:ahLst/>
              <a:cxnLst/>
              <a:rect l="l" t="t" r="r" b="b"/>
              <a:pathLst>
                <a:path w="399957" h="450469">
                  <a:moveTo>
                    <a:pt x="399957" y="384556"/>
                  </a:moveTo>
                  <a:lnTo>
                    <a:pt x="399957" y="450469"/>
                  </a:lnTo>
                  <a:cubicBezTo>
                    <a:pt x="350808" y="450469"/>
                    <a:pt x="307501" y="441325"/>
                    <a:pt x="280323" y="432689"/>
                  </a:cubicBezTo>
                  <a:cubicBezTo>
                    <a:pt x="308517" y="420243"/>
                    <a:pt x="334298" y="398653"/>
                    <a:pt x="337981" y="392938"/>
                  </a:cubicBezTo>
                  <a:cubicBezTo>
                    <a:pt x="244763" y="439293"/>
                    <a:pt x="144433" y="383667"/>
                    <a:pt x="107095" y="326390"/>
                  </a:cubicBezTo>
                  <a:cubicBezTo>
                    <a:pt x="160943" y="350774"/>
                    <a:pt x="256955" y="357378"/>
                    <a:pt x="283752" y="344678"/>
                  </a:cubicBezTo>
                  <a:cubicBezTo>
                    <a:pt x="190788" y="334899"/>
                    <a:pt x="129447" y="310261"/>
                    <a:pt x="86013" y="276098"/>
                  </a:cubicBezTo>
                  <a:cubicBezTo>
                    <a:pt x="923" y="209042"/>
                    <a:pt x="-9745" y="88646"/>
                    <a:pt x="6257" y="0"/>
                  </a:cubicBezTo>
                  <a:cubicBezTo>
                    <a:pt x="36102" y="96774"/>
                    <a:pt x="194979" y="172466"/>
                    <a:pt x="245144" y="200660"/>
                  </a:cubicBezTo>
                  <a:cubicBezTo>
                    <a:pt x="386114" y="280035"/>
                    <a:pt x="307374" y="337566"/>
                    <a:pt x="399957" y="384429"/>
                  </a:cubicBezTo>
                </a:path>
              </a:pathLst>
            </a:custGeom>
            <a:solidFill>
              <a:srgbClr val="014373"/>
            </a:solidFill>
          </p:spPr>
        </p:sp>
        <p:sp>
          <p:nvSpPr>
            <p:cNvPr id="16" name="Freeform 22">
              <a:extLst>
                <a:ext uri="{FF2B5EF4-FFF2-40B4-BE49-F238E27FC236}">
                  <a16:creationId xmlns:a16="http://schemas.microsoft.com/office/drawing/2014/main" id="{B65B0A28-3D56-4C1F-9969-EFBC2C36C155}"/>
                </a:ext>
              </a:extLst>
            </p:cNvPr>
            <p:cNvSpPr/>
            <p:nvPr/>
          </p:nvSpPr>
          <p:spPr>
            <a:xfrm>
              <a:off x="463423" y="449834"/>
              <a:ext cx="399957" cy="450469"/>
            </a:xfrm>
            <a:custGeom>
              <a:avLst/>
              <a:gdLst/>
              <a:ahLst/>
              <a:cxnLst/>
              <a:rect l="l" t="t" r="r" b="b"/>
              <a:pathLst>
                <a:path w="399957" h="450469">
                  <a:moveTo>
                    <a:pt x="0" y="384556"/>
                  </a:moveTo>
                  <a:lnTo>
                    <a:pt x="0" y="450469"/>
                  </a:lnTo>
                  <a:cubicBezTo>
                    <a:pt x="49149" y="450469"/>
                    <a:pt x="92456" y="441325"/>
                    <a:pt x="119634" y="432689"/>
                  </a:cubicBezTo>
                  <a:cubicBezTo>
                    <a:pt x="91440" y="420243"/>
                    <a:pt x="65659" y="398653"/>
                    <a:pt x="61976" y="392938"/>
                  </a:cubicBezTo>
                  <a:cubicBezTo>
                    <a:pt x="155194" y="439293"/>
                    <a:pt x="255524" y="383667"/>
                    <a:pt x="292862" y="326390"/>
                  </a:cubicBezTo>
                  <a:cubicBezTo>
                    <a:pt x="239014" y="350774"/>
                    <a:pt x="143002" y="357378"/>
                    <a:pt x="116205" y="344678"/>
                  </a:cubicBezTo>
                  <a:cubicBezTo>
                    <a:pt x="209169" y="334899"/>
                    <a:pt x="270510" y="310261"/>
                    <a:pt x="313944" y="276098"/>
                  </a:cubicBezTo>
                  <a:cubicBezTo>
                    <a:pt x="399034" y="209042"/>
                    <a:pt x="409702" y="88646"/>
                    <a:pt x="393700" y="0"/>
                  </a:cubicBezTo>
                  <a:cubicBezTo>
                    <a:pt x="363855" y="96774"/>
                    <a:pt x="204978" y="172466"/>
                    <a:pt x="154813" y="200660"/>
                  </a:cubicBezTo>
                  <a:cubicBezTo>
                    <a:pt x="13843" y="280035"/>
                    <a:pt x="92583" y="337566"/>
                    <a:pt x="0" y="384429"/>
                  </a:cubicBezTo>
                </a:path>
              </a:pathLst>
            </a:custGeom>
            <a:solidFill>
              <a:srgbClr val="014373"/>
            </a:solidFill>
          </p:spPr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5AAFBB84-4F54-4208-84CC-BA2B06645882}"/>
              </a:ext>
            </a:extLst>
          </p:cNvPr>
          <p:cNvSpPr txBox="1"/>
          <p:nvPr/>
        </p:nvSpPr>
        <p:spPr>
          <a:xfrm>
            <a:off x="9228992" y="423250"/>
            <a:ext cx="296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/>
              <a:t>(N</a:t>
            </a:r>
            <a:r>
              <a:rPr lang="ko-KR" altLang="en-US" sz="1400" dirty="0"/>
              <a:t>은 적절한 근거 없음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157062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A89FE4-CAD9-46A5-ACAE-44FB7E12985A}"/>
              </a:ext>
            </a:extLst>
          </p:cNvPr>
          <p:cNvSpPr txBox="1"/>
          <p:nvPr/>
        </p:nvSpPr>
        <p:spPr>
          <a:xfrm>
            <a:off x="499469" y="27620"/>
            <a:ext cx="91338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 err="1">
                <a:latin typeface="Rockwell" panose="02060603020205020403" pitchFamily="18" charset="0"/>
                <a:ea typeface="HY헤드라인M" panose="02030600000101010101" pitchFamily="18" charset="-127"/>
              </a:rPr>
              <a:t>p.s</a:t>
            </a:r>
            <a:r>
              <a:rPr lang="en-US" altLang="ko-KR" sz="3200" dirty="0">
                <a:latin typeface="Rockwell" panose="02060603020205020403" pitchFamily="18" charset="0"/>
                <a:ea typeface="HY헤드라인M" panose="02030600000101010101" pitchFamily="18" charset="-127"/>
              </a:rPr>
              <a:t> D5W, N/S </a:t>
            </a:r>
            <a:r>
              <a:rPr lang="ko-KR" altLang="en-US" sz="3200" dirty="0">
                <a:latin typeface="Rockwell" panose="02060603020205020403" pitchFamily="18" charset="0"/>
                <a:ea typeface="HY헤드라인M" panose="02030600000101010101" pitchFamily="18" charset="-127"/>
              </a:rPr>
              <a:t>병용투여 불가 항생제 정리</a:t>
            </a:r>
            <a:endParaRPr lang="en-US" altLang="ko-KR" sz="3200" dirty="0">
              <a:latin typeface="Rockwell" panose="02060603020205020403" pitchFamily="18" charset="0"/>
              <a:ea typeface="HY헤드라인M" panose="02030600000101010101" pitchFamily="18" charset="-127"/>
            </a:endParaRPr>
          </a:p>
        </p:txBody>
      </p:sp>
      <p:grpSp>
        <p:nvGrpSpPr>
          <p:cNvPr id="5" name="Group 15">
            <a:extLst>
              <a:ext uri="{FF2B5EF4-FFF2-40B4-BE49-F238E27FC236}">
                <a16:creationId xmlns:a16="http://schemas.microsoft.com/office/drawing/2014/main" id="{0EFBD5F2-BBFA-4AE9-B76A-883083393EDB}"/>
              </a:ext>
            </a:extLst>
          </p:cNvPr>
          <p:cNvGrpSpPr>
            <a:grpSpLocks noChangeAspect="1"/>
          </p:cNvGrpSpPr>
          <p:nvPr/>
        </p:nvGrpSpPr>
        <p:grpSpPr>
          <a:xfrm>
            <a:off x="90255" y="131140"/>
            <a:ext cx="410026" cy="426372"/>
            <a:chOff x="0" y="0"/>
            <a:chExt cx="926808" cy="963752"/>
          </a:xfrm>
        </p:grpSpPr>
        <p:sp>
          <p:nvSpPr>
            <p:cNvPr id="6" name="Freeform 16">
              <a:extLst>
                <a:ext uri="{FF2B5EF4-FFF2-40B4-BE49-F238E27FC236}">
                  <a16:creationId xmlns:a16="http://schemas.microsoft.com/office/drawing/2014/main" id="{F4CF9749-1D39-4182-AB9D-9DC8B482B08A}"/>
                </a:ext>
              </a:extLst>
            </p:cNvPr>
            <p:cNvSpPr/>
            <p:nvPr/>
          </p:nvSpPr>
          <p:spPr>
            <a:xfrm>
              <a:off x="415163" y="63500"/>
              <a:ext cx="96520" cy="688213"/>
            </a:xfrm>
            <a:custGeom>
              <a:avLst/>
              <a:gdLst/>
              <a:ahLst/>
              <a:cxnLst/>
              <a:rect l="l" t="t" r="r" b="b"/>
              <a:pathLst>
                <a:path w="96520" h="688213">
                  <a:moveTo>
                    <a:pt x="96520" y="224409"/>
                  </a:moveTo>
                  <a:cubicBezTo>
                    <a:pt x="96520" y="53467"/>
                    <a:pt x="48260" y="0"/>
                    <a:pt x="48260" y="0"/>
                  </a:cubicBezTo>
                  <a:cubicBezTo>
                    <a:pt x="48260" y="0"/>
                    <a:pt x="0" y="53467"/>
                    <a:pt x="0" y="224409"/>
                  </a:cubicBezTo>
                  <a:cubicBezTo>
                    <a:pt x="0" y="395351"/>
                    <a:pt x="48260" y="688213"/>
                    <a:pt x="48260" y="688213"/>
                  </a:cubicBezTo>
                  <a:cubicBezTo>
                    <a:pt x="48260" y="688213"/>
                    <a:pt x="96520" y="395351"/>
                    <a:pt x="96520" y="224409"/>
                  </a:cubicBezTo>
                </a:path>
              </a:pathLst>
            </a:custGeom>
            <a:solidFill>
              <a:srgbClr val="DE5A17"/>
            </a:solidFill>
          </p:spPr>
        </p:sp>
        <p:sp>
          <p:nvSpPr>
            <p:cNvPr id="7" name="Freeform 17">
              <a:extLst>
                <a:ext uri="{FF2B5EF4-FFF2-40B4-BE49-F238E27FC236}">
                  <a16:creationId xmlns:a16="http://schemas.microsoft.com/office/drawing/2014/main" id="{09A6D570-3D27-49CF-ABA3-255F98ECA0F5}"/>
                </a:ext>
              </a:extLst>
            </p:cNvPr>
            <p:cNvSpPr/>
            <p:nvPr/>
          </p:nvSpPr>
          <p:spPr>
            <a:xfrm>
              <a:off x="267911" y="130683"/>
              <a:ext cx="164651" cy="592455"/>
            </a:xfrm>
            <a:custGeom>
              <a:avLst/>
              <a:gdLst/>
              <a:ahLst/>
              <a:cxnLst/>
              <a:rect l="l" t="t" r="r" b="b"/>
              <a:pathLst>
                <a:path w="164651" h="592455">
                  <a:moveTo>
                    <a:pt x="567" y="213868"/>
                  </a:moveTo>
                  <a:cubicBezTo>
                    <a:pt x="-7942" y="83693"/>
                    <a:pt x="82101" y="0"/>
                    <a:pt x="82101" y="0"/>
                  </a:cubicBezTo>
                  <a:cubicBezTo>
                    <a:pt x="82101" y="0"/>
                    <a:pt x="62416" y="76454"/>
                    <a:pt x="71306" y="191897"/>
                  </a:cubicBezTo>
                  <a:cubicBezTo>
                    <a:pt x="77402" y="270256"/>
                    <a:pt x="95690" y="347980"/>
                    <a:pt x="117280" y="423418"/>
                  </a:cubicBezTo>
                  <a:cubicBezTo>
                    <a:pt x="130869" y="470535"/>
                    <a:pt x="164651" y="592455"/>
                    <a:pt x="164651" y="592455"/>
                  </a:cubicBezTo>
                  <a:cubicBezTo>
                    <a:pt x="164651" y="592455"/>
                    <a:pt x="131885" y="528828"/>
                    <a:pt x="73338" y="426847"/>
                  </a:cubicBezTo>
                  <a:cubicBezTo>
                    <a:pt x="32952" y="356616"/>
                    <a:pt x="5266" y="286004"/>
                    <a:pt x="440" y="213741"/>
                  </a:cubicBezTo>
                </a:path>
              </a:pathLst>
            </a:custGeom>
            <a:solidFill>
              <a:srgbClr val="DE5A17"/>
            </a:solidFill>
          </p:spPr>
        </p:sp>
        <p:sp>
          <p:nvSpPr>
            <p:cNvPr id="8" name="Freeform 18">
              <a:extLst>
                <a:ext uri="{FF2B5EF4-FFF2-40B4-BE49-F238E27FC236}">
                  <a16:creationId xmlns:a16="http://schemas.microsoft.com/office/drawing/2014/main" id="{C9252FB0-191D-486E-BE61-3ACF3E02A2C2}"/>
                </a:ext>
              </a:extLst>
            </p:cNvPr>
            <p:cNvSpPr/>
            <p:nvPr/>
          </p:nvSpPr>
          <p:spPr>
            <a:xfrm>
              <a:off x="160369" y="280035"/>
              <a:ext cx="182277" cy="344678"/>
            </a:xfrm>
            <a:custGeom>
              <a:avLst/>
              <a:gdLst/>
              <a:ahLst/>
              <a:cxnLst/>
              <a:rect l="l" t="t" r="r" b="b"/>
              <a:pathLst>
                <a:path w="182277" h="344678">
                  <a:moveTo>
                    <a:pt x="1683" y="131318"/>
                  </a:moveTo>
                  <a:cubicBezTo>
                    <a:pt x="-10128" y="53086"/>
                    <a:pt x="43974" y="2921"/>
                    <a:pt x="47022" y="0"/>
                  </a:cubicBezTo>
                  <a:cubicBezTo>
                    <a:pt x="47022" y="0"/>
                    <a:pt x="39656" y="46736"/>
                    <a:pt x="51340" y="108839"/>
                  </a:cubicBezTo>
                  <a:cubicBezTo>
                    <a:pt x="57436" y="140970"/>
                    <a:pt x="69374" y="175895"/>
                    <a:pt x="88043" y="206629"/>
                  </a:cubicBezTo>
                  <a:cubicBezTo>
                    <a:pt x="128937" y="273939"/>
                    <a:pt x="182277" y="344678"/>
                    <a:pt x="182277" y="344678"/>
                  </a:cubicBezTo>
                  <a:cubicBezTo>
                    <a:pt x="182277" y="344678"/>
                    <a:pt x="108617" y="278130"/>
                    <a:pt x="61881" y="234569"/>
                  </a:cubicBezTo>
                  <a:cubicBezTo>
                    <a:pt x="34957" y="209423"/>
                    <a:pt x="8160" y="174371"/>
                    <a:pt x="1683" y="131318"/>
                  </a:cubicBezTo>
                </a:path>
              </a:pathLst>
            </a:custGeom>
            <a:solidFill>
              <a:srgbClr val="DE5A17"/>
            </a:solidFill>
          </p:spPr>
        </p:sp>
        <p:sp>
          <p:nvSpPr>
            <p:cNvPr id="9" name="Freeform 19">
              <a:extLst>
                <a:ext uri="{FF2B5EF4-FFF2-40B4-BE49-F238E27FC236}">
                  <a16:creationId xmlns:a16="http://schemas.microsoft.com/office/drawing/2014/main" id="{6B9C8648-44B5-4387-9D00-F707BEC5DC2D}"/>
                </a:ext>
              </a:extLst>
            </p:cNvPr>
            <p:cNvSpPr/>
            <p:nvPr/>
          </p:nvSpPr>
          <p:spPr>
            <a:xfrm>
              <a:off x="494157" y="130683"/>
              <a:ext cx="164651" cy="592455"/>
            </a:xfrm>
            <a:custGeom>
              <a:avLst/>
              <a:gdLst/>
              <a:ahLst/>
              <a:cxnLst/>
              <a:rect l="l" t="t" r="r" b="b"/>
              <a:pathLst>
                <a:path w="164651" h="592455">
                  <a:moveTo>
                    <a:pt x="164084" y="213868"/>
                  </a:moveTo>
                  <a:cubicBezTo>
                    <a:pt x="172593" y="83693"/>
                    <a:pt x="82550" y="0"/>
                    <a:pt x="82550" y="0"/>
                  </a:cubicBezTo>
                  <a:cubicBezTo>
                    <a:pt x="82550" y="0"/>
                    <a:pt x="102235" y="76454"/>
                    <a:pt x="93345" y="191897"/>
                  </a:cubicBezTo>
                  <a:cubicBezTo>
                    <a:pt x="87249" y="270256"/>
                    <a:pt x="68961" y="347980"/>
                    <a:pt x="47371" y="423418"/>
                  </a:cubicBezTo>
                  <a:cubicBezTo>
                    <a:pt x="33782" y="470535"/>
                    <a:pt x="0" y="592455"/>
                    <a:pt x="0" y="592455"/>
                  </a:cubicBezTo>
                  <a:cubicBezTo>
                    <a:pt x="0" y="592455"/>
                    <a:pt x="32766" y="528828"/>
                    <a:pt x="91313" y="426847"/>
                  </a:cubicBezTo>
                  <a:cubicBezTo>
                    <a:pt x="131699" y="356616"/>
                    <a:pt x="159385" y="286004"/>
                    <a:pt x="164211" y="213741"/>
                  </a:cubicBezTo>
                </a:path>
              </a:pathLst>
            </a:custGeom>
            <a:solidFill>
              <a:srgbClr val="DE5A17"/>
            </a:solidFill>
          </p:spPr>
        </p:sp>
        <p:sp>
          <p:nvSpPr>
            <p:cNvPr id="10" name="Freeform 20">
              <a:extLst>
                <a:ext uri="{FF2B5EF4-FFF2-40B4-BE49-F238E27FC236}">
                  <a16:creationId xmlns:a16="http://schemas.microsoft.com/office/drawing/2014/main" id="{9B0354C9-25A0-4EDF-ABE3-E4B00CA4D812}"/>
                </a:ext>
              </a:extLst>
            </p:cNvPr>
            <p:cNvSpPr/>
            <p:nvPr/>
          </p:nvSpPr>
          <p:spPr>
            <a:xfrm>
              <a:off x="584073" y="280035"/>
              <a:ext cx="182277" cy="344678"/>
            </a:xfrm>
            <a:custGeom>
              <a:avLst/>
              <a:gdLst/>
              <a:ahLst/>
              <a:cxnLst/>
              <a:rect l="l" t="t" r="r" b="b"/>
              <a:pathLst>
                <a:path w="182277" h="344678">
                  <a:moveTo>
                    <a:pt x="180594" y="131318"/>
                  </a:moveTo>
                  <a:cubicBezTo>
                    <a:pt x="192405" y="53086"/>
                    <a:pt x="138303" y="2921"/>
                    <a:pt x="135255" y="0"/>
                  </a:cubicBezTo>
                  <a:cubicBezTo>
                    <a:pt x="135255" y="0"/>
                    <a:pt x="142621" y="46736"/>
                    <a:pt x="130937" y="108839"/>
                  </a:cubicBezTo>
                  <a:cubicBezTo>
                    <a:pt x="124841" y="140970"/>
                    <a:pt x="112903" y="175895"/>
                    <a:pt x="94234" y="206629"/>
                  </a:cubicBezTo>
                  <a:cubicBezTo>
                    <a:pt x="53340" y="273939"/>
                    <a:pt x="0" y="344678"/>
                    <a:pt x="0" y="344678"/>
                  </a:cubicBezTo>
                  <a:cubicBezTo>
                    <a:pt x="0" y="344678"/>
                    <a:pt x="73660" y="278130"/>
                    <a:pt x="120396" y="234569"/>
                  </a:cubicBezTo>
                  <a:cubicBezTo>
                    <a:pt x="147320" y="209423"/>
                    <a:pt x="174117" y="174371"/>
                    <a:pt x="180594" y="131318"/>
                  </a:cubicBezTo>
                </a:path>
              </a:pathLst>
            </a:custGeom>
            <a:solidFill>
              <a:srgbClr val="DE5A17"/>
            </a:solidFill>
          </p:spPr>
        </p:sp>
        <p:sp>
          <p:nvSpPr>
            <p:cNvPr id="11" name="Freeform 21">
              <a:extLst>
                <a:ext uri="{FF2B5EF4-FFF2-40B4-BE49-F238E27FC236}">
                  <a16:creationId xmlns:a16="http://schemas.microsoft.com/office/drawing/2014/main" id="{5A9B6F4D-FAC1-4B36-B3F6-5FC5774167C4}"/>
                </a:ext>
              </a:extLst>
            </p:cNvPr>
            <p:cNvSpPr/>
            <p:nvPr/>
          </p:nvSpPr>
          <p:spPr>
            <a:xfrm>
              <a:off x="63466" y="449834"/>
              <a:ext cx="399957" cy="450469"/>
            </a:xfrm>
            <a:custGeom>
              <a:avLst/>
              <a:gdLst/>
              <a:ahLst/>
              <a:cxnLst/>
              <a:rect l="l" t="t" r="r" b="b"/>
              <a:pathLst>
                <a:path w="399957" h="450469">
                  <a:moveTo>
                    <a:pt x="399957" y="384556"/>
                  </a:moveTo>
                  <a:lnTo>
                    <a:pt x="399957" y="450469"/>
                  </a:lnTo>
                  <a:cubicBezTo>
                    <a:pt x="350808" y="450469"/>
                    <a:pt x="307501" y="441325"/>
                    <a:pt x="280323" y="432689"/>
                  </a:cubicBezTo>
                  <a:cubicBezTo>
                    <a:pt x="308517" y="420243"/>
                    <a:pt x="334298" y="398653"/>
                    <a:pt x="337981" y="392938"/>
                  </a:cubicBezTo>
                  <a:cubicBezTo>
                    <a:pt x="244763" y="439293"/>
                    <a:pt x="144433" y="383667"/>
                    <a:pt x="107095" y="326390"/>
                  </a:cubicBezTo>
                  <a:cubicBezTo>
                    <a:pt x="160943" y="350774"/>
                    <a:pt x="256955" y="357378"/>
                    <a:pt x="283752" y="344678"/>
                  </a:cubicBezTo>
                  <a:cubicBezTo>
                    <a:pt x="190788" y="334899"/>
                    <a:pt x="129447" y="310261"/>
                    <a:pt x="86013" y="276098"/>
                  </a:cubicBezTo>
                  <a:cubicBezTo>
                    <a:pt x="923" y="209042"/>
                    <a:pt x="-9745" y="88646"/>
                    <a:pt x="6257" y="0"/>
                  </a:cubicBezTo>
                  <a:cubicBezTo>
                    <a:pt x="36102" y="96774"/>
                    <a:pt x="194979" y="172466"/>
                    <a:pt x="245144" y="200660"/>
                  </a:cubicBezTo>
                  <a:cubicBezTo>
                    <a:pt x="386114" y="280035"/>
                    <a:pt x="307374" y="337566"/>
                    <a:pt x="399957" y="384429"/>
                  </a:cubicBezTo>
                </a:path>
              </a:pathLst>
            </a:custGeom>
            <a:solidFill>
              <a:srgbClr val="014373"/>
            </a:solidFill>
          </p:spPr>
        </p:sp>
        <p:sp>
          <p:nvSpPr>
            <p:cNvPr id="12" name="Freeform 22">
              <a:extLst>
                <a:ext uri="{FF2B5EF4-FFF2-40B4-BE49-F238E27FC236}">
                  <a16:creationId xmlns:a16="http://schemas.microsoft.com/office/drawing/2014/main" id="{BDFBA755-B19F-40C7-A917-E5EA71556045}"/>
                </a:ext>
              </a:extLst>
            </p:cNvPr>
            <p:cNvSpPr/>
            <p:nvPr/>
          </p:nvSpPr>
          <p:spPr>
            <a:xfrm>
              <a:off x="463423" y="449834"/>
              <a:ext cx="399957" cy="450469"/>
            </a:xfrm>
            <a:custGeom>
              <a:avLst/>
              <a:gdLst/>
              <a:ahLst/>
              <a:cxnLst/>
              <a:rect l="l" t="t" r="r" b="b"/>
              <a:pathLst>
                <a:path w="399957" h="450469">
                  <a:moveTo>
                    <a:pt x="0" y="384556"/>
                  </a:moveTo>
                  <a:lnTo>
                    <a:pt x="0" y="450469"/>
                  </a:lnTo>
                  <a:cubicBezTo>
                    <a:pt x="49149" y="450469"/>
                    <a:pt x="92456" y="441325"/>
                    <a:pt x="119634" y="432689"/>
                  </a:cubicBezTo>
                  <a:cubicBezTo>
                    <a:pt x="91440" y="420243"/>
                    <a:pt x="65659" y="398653"/>
                    <a:pt x="61976" y="392938"/>
                  </a:cubicBezTo>
                  <a:cubicBezTo>
                    <a:pt x="155194" y="439293"/>
                    <a:pt x="255524" y="383667"/>
                    <a:pt x="292862" y="326390"/>
                  </a:cubicBezTo>
                  <a:cubicBezTo>
                    <a:pt x="239014" y="350774"/>
                    <a:pt x="143002" y="357378"/>
                    <a:pt x="116205" y="344678"/>
                  </a:cubicBezTo>
                  <a:cubicBezTo>
                    <a:pt x="209169" y="334899"/>
                    <a:pt x="270510" y="310261"/>
                    <a:pt x="313944" y="276098"/>
                  </a:cubicBezTo>
                  <a:cubicBezTo>
                    <a:pt x="399034" y="209042"/>
                    <a:pt x="409702" y="88646"/>
                    <a:pt x="393700" y="0"/>
                  </a:cubicBezTo>
                  <a:cubicBezTo>
                    <a:pt x="363855" y="96774"/>
                    <a:pt x="204978" y="172466"/>
                    <a:pt x="154813" y="200660"/>
                  </a:cubicBezTo>
                  <a:cubicBezTo>
                    <a:pt x="13843" y="280035"/>
                    <a:pt x="92583" y="337566"/>
                    <a:pt x="0" y="384429"/>
                  </a:cubicBezTo>
                </a:path>
              </a:pathLst>
            </a:custGeom>
            <a:solidFill>
              <a:srgbClr val="014373"/>
            </a:solidFill>
          </p:spPr>
        </p:sp>
      </p:grpSp>
      <p:graphicFrame>
        <p:nvGraphicFramePr>
          <p:cNvPr id="13" name="표 13">
            <a:extLst>
              <a:ext uri="{FF2B5EF4-FFF2-40B4-BE49-F238E27FC236}">
                <a16:creationId xmlns:a16="http://schemas.microsoft.com/office/drawing/2014/main" id="{D2D870E1-018F-4D8A-AC40-223690EF32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8829602"/>
              </p:ext>
            </p:extLst>
          </p:nvPr>
        </p:nvGraphicFramePr>
        <p:xfrm>
          <a:off x="0" y="2316480"/>
          <a:ext cx="12192000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1075">
                  <a:extLst>
                    <a:ext uri="{9D8B030D-6E8A-4147-A177-3AD203B41FA5}">
                      <a16:colId xmlns:a16="http://schemas.microsoft.com/office/drawing/2014/main" val="1502088038"/>
                    </a:ext>
                  </a:extLst>
                </a:gridCol>
                <a:gridCol w="2242185">
                  <a:extLst>
                    <a:ext uri="{9D8B030D-6E8A-4147-A177-3AD203B41FA5}">
                      <a16:colId xmlns:a16="http://schemas.microsoft.com/office/drawing/2014/main" val="306241788"/>
                    </a:ext>
                  </a:extLst>
                </a:gridCol>
                <a:gridCol w="2242185">
                  <a:extLst>
                    <a:ext uri="{9D8B030D-6E8A-4147-A177-3AD203B41FA5}">
                      <a16:colId xmlns:a16="http://schemas.microsoft.com/office/drawing/2014/main" val="1165921071"/>
                    </a:ext>
                  </a:extLst>
                </a:gridCol>
                <a:gridCol w="2242185">
                  <a:extLst>
                    <a:ext uri="{9D8B030D-6E8A-4147-A177-3AD203B41FA5}">
                      <a16:colId xmlns:a16="http://schemas.microsoft.com/office/drawing/2014/main" val="1502219749"/>
                    </a:ext>
                  </a:extLst>
                </a:gridCol>
                <a:gridCol w="2242185">
                  <a:extLst>
                    <a:ext uri="{9D8B030D-6E8A-4147-A177-3AD203B41FA5}">
                      <a16:colId xmlns:a16="http://schemas.microsoft.com/office/drawing/2014/main" val="475996802"/>
                    </a:ext>
                  </a:extLst>
                </a:gridCol>
                <a:gridCol w="2242185">
                  <a:extLst>
                    <a:ext uri="{9D8B030D-6E8A-4147-A177-3AD203B41FA5}">
                      <a16:colId xmlns:a16="http://schemas.microsoft.com/office/drawing/2014/main" val="11737794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>
                    <a:solidFill>
                      <a:srgbClr val="FDEF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Amphotericin B</a:t>
                      </a:r>
                      <a:endParaRPr lang="ko-KR" altLang="en-US" sz="16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>
                    <a:solidFill>
                      <a:srgbClr val="FDEF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Ampicillin</a:t>
                      </a:r>
                      <a:endParaRPr lang="ko-KR" altLang="en-US" sz="16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>
                    <a:solidFill>
                      <a:srgbClr val="FDEF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 err="1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Caspofungin</a:t>
                      </a:r>
                      <a:endParaRPr lang="ko-KR" altLang="en-US" sz="16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>
                    <a:solidFill>
                      <a:srgbClr val="FDEF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Ertapenem</a:t>
                      </a:r>
                      <a:endParaRPr lang="ko-KR" altLang="en-US" sz="16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>
                    <a:solidFill>
                      <a:srgbClr val="FDEF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Liposomal </a:t>
                      </a:r>
                      <a:r>
                        <a:rPr lang="en-US" altLang="ko-KR" sz="1600" b="1" dirty="0" err="1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ampho</a:t>
                      </a:r>
                      <a:r>
                        <a:rPr lang="en-US" altLang="ko-KR" sz="16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 B</a:t>
                      </a:r>
                      <a:endParaRPr lang="ko-KR" altLang="en-US" sz="16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>
                    <a:solidFill>
                      <a:srgbClr val="FDE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77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D5W</a:t>
                      </a:r>
                      <a:endParaRPr lang="ko-KR" altLang="en-US" sz="16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>
                    <a:solidFill>
                      <a:srgbClr val="FDEF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7890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N/S</a:t>
                      </a:r>
                      <a:endParaRPr lang="ko-KR" altLang="en-US" sz="16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>
                    <a:solidFill>
                      <a:srgbClr val="FDEF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07789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9303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A89FE4-CAD9-46A5-ACAE-44FB7E12985A}"/>
              </a:ext>
            </a:extLst>
          </p:cNvPr>
          <p:cNvSpPr txBox="1"/>
          <p:nvPr/>
        </p:nvSpPr>
        <p:spPr>
          <a:xfrm>
            <a:off x="499469" y="27620"/>
            <a:ext cx="91338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 err="1">
                <a:latin typeface="Rockwell" panose="02060603020205020403" pitchFamily="18" charset="0"/>
                <a:ea typeface="HY헤드라인M" panose="02030600000101010101" pitchFamily="18" charset="-127"/>
              </a:rPr>
              <a:t>p.s</a:t>
            </a:r>
            <a:r>
              <a:rPr lang="en-US" altLang="ko-KR" sz="3200" dirty="0">
                <a:latin typeface="Rockwell" panose="02060603020205020403" pitchFamily="18" charset="0"/>
                <a:ea typeface="HY헤드라인M" panose="02030600000101010101" pitchFamily="18" charset="-127"/>
              </a:rPr>
              <a:t> D5W, N/S </a:t>
            </a:r>
            <a:r>
              <a:rPr lang="ko-KR" altLang="en-US" sz="3200" dirty="0">
                <a:latin typeface="Rockwell" panose="02060603020205020403" pitchFamily="18" charset="0"/>
                <a:ea typeface="HY헤드라인M" panose="02030600000101010101" pitchFamily="18" charset="-127"/>
              </a:rPr>
              <a:t>병용투여 불가 항생제 정리</a:t>
            </a:r>
            <a:endParaRPr lang="en-US" altLang="ko-KR" sz="3200" dirty="0">
              <a:latin typeface="Rockwell" panose="02060603020205020403" pitchFamily="18" charset="0"/>
              <a:ea typeface="HY헤드라인M" panose="02030600000101010101" pitchFamily="18" charset="-127"/>
            </a:endParaRPr>
          </a:p>
        </p:txBody>
      </p:sp>
      <p:grpSp>
        <p:nvGrpSpPr>
          <p:cNvPr id="5" name="Group 15">
            <a:extLst>
              <a:ext uri="{FF2B5EF4-FFF2-40B4-BE49-F238E27FC236}">
                <a16:creationId xmlns:a16="http://schemas.microsoft.com/office/drawing/2014/main" id="{0EFBD5F2-BBFA-4AE9-B76A-883083393EDB}"/>
              </a:ext>
            </a:extLst>
          </p:cNvPr>
          <p:cNvGrpSpPr>
            <a:grpSpLocks noChangeAspect="1"/>
          </p:cNvGrpSpPr>
          <p:nvPr/>
        </p:nvGrpSpPr>
        <p:grpSpPr>
          <a:xfrm>
            <a:off x="90255" y="131140"/>
            <a:ext cx="410026" cy="426372"/>
            <a:chOff x="0" y="0"/>
            <a:chExt cx="926808" cy="963752"/>
          </a:xfrm>
        </p:grpSpPr>
        <p:sp>
          <p:nvSpPr>
            <p:cNvPr id="6" name="Freeform 16">
              <a:extLst>
                <a:ext uri="{FF2B5EF4-FFF2-40B4-BE49-F238E27FC236}">
                  <a16:creationId xmlns:a16="http://schemas.microsoft.com/office/drawing/2014/main" id="{F4CF9749-1D39-4182-AB9D-9DC8B482B08A}"/>
                </a:ext>
              </a:extLst>
            </p:cNvPr>
            <p:cNvSpPr/>
            <p:nvPr/>
          </p:nvSpPr>
          <p:spPr>
            <a:xfrm>
              <a:off x="415163" y="63500"/>
              <a:ext cx="96520" cy="688213"/>
            </a:xfrm>
            <a:custGeom>
              <a:avLst/>
              <a:gdLst/>
              <a:ahLst/>
              <a:cxnLst/>
              <a:rect l="l" t="t" r="r" b="b"/>
              <a:pathLst>
                <a:path w="96520" h="688213">
                  <a:moveTo>
                    <a:pt x="96520" y="224409"/>
                  </a:moveTo>
                  <a:cubicBezTo>
                    <a:pt x="96520" y="53467"/>
                    <a:pt x="48260" y="0"/>
                    <a:pt x="48260" y="0"/>
                  </a:cubicBezTo>
                  <a:cubicBezTo>
                    <a:pt x="48260" y="0"/>
                    <a:pt x="0" y="53467"/>
                    <a:pt x="0" y="224409"/>
                  </a:cubicBezTo>
                  <a:cubicBezTo>
                    <a:pt x="0" y="395351"/>
                    <a:pt x="48260" y="688213"/>
                    <a:pt x="48260" y="688213"/>
                  </a:cubicBezTo>
                  <a:cubicBezTo>
                    <a:pt x="48260" y="688213"/>
                    <a:pt x="96520" y="395351"/>
                    <a:pt x="96520" y="224409"/>
                  </a:cubicBezTo>
                </a:path>
              </a:pathLst>
            </a:custGeom>
            <a:solidFill>
              <a:srgbClr val="DE5A17"/>
            </a:solidFill>
          </p:spPr>
        </p:sp>
        <p:sp>
          <p:nvSpPr>
            <p:cNvPr id="7" name="Freeform 17">
              <a:extLst>
                <a:ext uri="{FF2B5EF4-FFF2-40B4-BE49-F238E27FC236}">
                  <a16:creationId xmlns:a16="http://schemas.microsoft.com/office/drawing/2014/main" id="{09A6D570-3D27-49CF-ABA3-255F98ECA0F5}"/>
                </a:ext>
              </a:extLst>
            </p:cNvPr>
            <p:cNvSpPr/>
            <p:nvPr/>
          </p:nvSpPr>
          <p:spPr>
            <a:xfrm>
              <a:off x="267911" y="130683"/>
              <a:ext cx="164651" cy="592455"/>
            </a:xfrm>
            <a:custGeom>
              <a:avLst/>
              <a:gdLst/>
              <a:ahLst/>
              <a:cxnLst/>
              <a:rect l="l" t="t" r="r" b="b"/>
              <a:pathLst>
                <a:path w="164651" h="592455">
                  <a:moveTo>
                    <a:pt x="567" y="213868"/>
                  </a:moveTo>
                  <a:cubicBezTo>
                    <a:pt x="-7942" y="83693"/>
                    <a:pt x="82101" y="0"/>
                    <a:pt x="82101" y="0"/>
                  </a:cubicBezTo>
                  <a:cubicBezTo>
                    <a:pt x="82101" y="0"/>
                    <a:pt x="62416" y="76454"/>
                    <a:pt x="71306" y="191897"/>
                  </a:cubicBezTo>
                  <a:cubicBezTo>
                    <a:pt x="77402" y="270256"/>
                    <a:pt x="95690" y="347980"/>
                    <a:pt x="117280" y="423418"/>
                  </a:cubicBezTo>
                  <a:cubicBezTo>
                    <a:pt x="130869" y="470535"/>
                    <a:pt x="164651" y="592455"/>
                    <a:pt x="164651" y="592455"/>
                  </a:cubicBezTo>
                  <a:cubicBezTo>
                    <a:pt x="164651" y="592455"/>
                    <a:pt x="131885" y="528828"/>
                    <a:pt x="73338" y="426847"/>
                  </a:cubicBezTo>
                  <a:cubicBezTo>
                    <a:pt x="32952" y="356616"/>
                    <a:pt x="5266" y="286004"/>
                    <a:pt x="440" y="213741"/>
                  </a:cubicBezTo>
                </a:path>
              </a:pathLst>
            </a:custGeom>
            <a:solidFill>
              <a:srgbClr val="DE5A17"/>
            </a:solidFill>
          </p:spPr>
        </p:sp>
        <p:sp>
          <p:nvSpPr>
            <p:cNvPr id="8" name="Freeform 18">
              <a:extLst>
                <a:ext uri="{FF2B5EF4-FFF2-40B4-BE49-F238E27FC236}">
                  <a16:creationId xmlns:a16="http://schemas.microsoft.com/office/drawing/2014/main" id="{C9252FB0-191D-486E-BE61-3ACF3E02A2C2}"/>
                </a:ext>
              </a:extLst>
            </p:cNvPr>
            <p:cNvSpPr/>
            <p:nvPr/>
          </p:nvSpPr>
          <p:spPr>
            <a:xfrm>
              <a:off x="160369" y="280035"/>
              <a:ext cx="182277" cy="344678"/>
            </a:xfrm>
            <a:custGeom>
              <a:avLst/>
              <a:gdLst/>
              <a:ahLst/>
              <a:cxnLst/>
              <a:rect l="l" t="t" r="r" b="b"/>
              <a:pathLst>
                <a:path w="182277" h="344678">
                  <a:moveTo>
                    <a:pt x="1683" y="131318"/>
                  </a:moveTo>
                  <a:cubicBezTo>
                    <a:pt x="-10128" y="53086"/>
                    <a:pt x="43974" y="2921"/>
                    <a:pt x="47022" y="0"/>
                  </a:cubicBezTo>
                  <a:cubicBezTo>
                    <a:pt x="47022" y="0"/>
                    <a:pt x="39656" y="46736"/>
                    <a:pt x="51340" y="108839"/>
                  </a:cubicBezTo>
                  <a:cubicBezTo>
                    <a:pt x="57436" y="140970"/>
                    <a:pt x="69374" y="175895"/>
                    <a:pt x="88043" y="206629"/>
                  </a:cubicBezTo>
                  <a:cubicBezTo>
                    <a:pt x="128937" y="273939"/>
                    <a:pt x="182277" y="344678"/>
                    <a:pt x="182277" y="344678"/>
                  </a:cubicBezTo>
                  <a:cubicBezTo>
                    <a:pt x="182277" y="344678"/>
                    <a:pt x="108617" y="278130"/>
                    <a:pt x="61881" y="234569"/>
                  </a:cubicBezTo>
                  <a:cubicBezTo>
                    <a:pt x="34957" y="209423"/>
                    <a:pt x="8160" y="174371"/>
                    <a:pt x="1683" y="131318"/>
                  </a:cubicBezTo>
                </a:path>
              </a:pathLst>
            </a:custGeom>
            <a:solidFill>
              <a:srgbClr val="DE5A17"/>
            </a:solidFill>
          </p:spPr>
        </p:sp>
        <p:sp>
          <p:nvSpPr>
            <p:cNvPr id="9" name="Freeform 19">
              <a:extLst>
                <a:ext uri="{FF2B5EF4-FFF2-40B4-BE49-F238E27FC236}">
                  <a16:creationId xmlns:a16="http://schemas.microsoft.com/office/drawing/2014/main" id="{6B9C8648-44B5-4387-9D00-F707BEC5DC2D}"/>
                </a:ext>
              </a:extLst>
            </p:cNvPr>
            <p:cNvSpPr/>
            <p:nvPr/>
          </p:nvSpPr>
          <p:spPr>
            <a:xfrm>
              <a:off x="494157" y="130683"/>
              <a:ext cx="164651" cy="592455"/>
            </a:xfrm>
            <a:custGeom>
              <a:avLst/>
              <a:gdLst/>
              <a:ahLst/>
              <a:cxnLst/>
              <a:rect l="l" t="t" r="r" b="b"/>
              <a:pathLst>
                <a:path w="164651" h="592455">
                  <a:moveTo>
                    <a:pt x="164084" y="213868"/>
                  </a:moveTo>
                  <a:cubicBezTo>
                    <a:pt x="172593" y="83693"/>
                    <a:pt x="82550" y="0"/>
                    <a:pt x="82550" y="0"/>
                  </a:cubicBezTo>
                  <a:cubicBezTo>
                    <a:pt x="82550" y="0"/>
                    <a:pt x="102235" y="76454"/>
                    <a:pt x="93345" y="191897"/>
                  </a:cubicBezTo>
                  <a:cubicBezTo>
                    <a:pt x="87249" y="270256"/>
                    <a:pt x="68961" y="347980"/>
                    <a:pt x="47371" y="423418"/>
                  </a:cubicBezTo>
                  <a:cubicBezTo>
                    <a:pt x="33782" y="470535"/>
                    <a:pt x="0" y="592455"/>
                    <a:pt x="0" y="592455"/>
                  </a:cubicBezTo>
                  <a:cubicBezTo>
                    <a:pt x="0" y="592455"/>
                    <a:pt x="32766" y="528828"/>
                    <a:pt x="91313" y="426847"/>
                  </a:cubicBezTo>
                  <a:cubicBezTo>
                    <a:pt x="131699" y="356616"/>
                    <a:pt x="159385" y="286004"/>
                    <a:pt x="164211" y="213741"/>
                  </a:cubicBezTo>
                </a:path>
              </a:pathLst>
            </a:custGeom>
            <a:solidFill>
              <a:srgbClr val="DE5A17"/>
            </a:solidFill>
          </p:spPr>
        </p:sp>
        <p:sp>
          <p:nvSpPr>
            <p:cNvPr id="10" name="Freeform 20">
              <a:extLst>
                <a:ext uri="{FF2B5EF4-FFF2-40B4-BE49-F238E27FC236}">
                  <a16:creationId xmlns:a16="http://schemas.microsoft.com/office/drawing/2014/main" id="{9B0354C9-25A0-4EDF-ABE3-E4B00CA4D812}"/>
                </a:ext>
              </a:extLst>
            </p:cNvPr>
            <p:cNvSpPr/>
            <p:nvPr/>
          </p:nvSpPr>
          <p:spPr>
            <a:xfrm>
              <a:off x="584073" y="280035"/>
              <a:ext cx="182277" cy="344678"/>
            </a:xfrm>
            <a:custGeom>
              <a:avLst/>
              <a:gdLst/>
              <a:ahLst/>
              <a:cxnLst/>
              <a:rect l="l" t="t" r="r" b="b"/>
              <a:pathLst>
                <a:path w="182277" h="344678">
                  <a:moveTo>
                    <a:pt x="180594" y="131318"/>
                  </a:moveTo>
                  <a:cubicBezTo>
                    <a:pt x="192405" y="53086"/>
                    <a:pt x="138303" y="2921"/>
                    <a:pt x="135255" y="0"/>
                  </a:cubicBezTo>
                  <a:cubicBezTo>
                    <a:pt x="135255" y="0"/>
                    <a:pt x="142621" y="46736"/>
                    <a:pt x="130937" y="108839"/>
                  </a:cubicBezTo>
                  <a:cubicBezTo>
                    <a:pt x="124841" y="140970"/>
                    <a:pt x="112903" y="175895"/>
                    <a:pt x="94234" y="206629"/>
                  </a:cubicBezTo>
                  <a:cubicBezTo>
                    <a:pt x="53340" y="273939"/>
                    <a:pt x="0" y="344678"/>
                    <a:pt x="0" y="344678"/>
                  </a:cubicBezTo>
                  <a:cubicBezTo>
                    <a:pt x="0" y="344678"/>
                    <a:pt x="73660" y="278130"/>
                    <a:pt x="120396" y="234569"/>
                  </a:cubicBezTo>
                  <a:cubicBezTo>
                    <a:pt x="147320" y="209423"/>
                    <a:pt x="174117" y="174371"/>
                    <a:pt x="180594" y="131318"/>
                  </a:cubicBezTo>
                </a:path>
              </a:pathLst>
            </a:custGeom>
            <a:solidFill>
              <a:srgbClr val="DE5A17"/>
            </a:solidFill>
          </p:spPr>
        </p:sp>
        <p:sp>
          <p:nvSpPr>
            <p:cNvPr id="11" name="Freeform 21">
              <a:extLst>
                <a:ext uri="{FF2B5EF4-FFF2-40B4-BE49-F238E27FC236}">
                  <a16:creationId xmlns:a16="http://schemas.microsoft.com/office/drawing/2014/main" id="{5A9B6F4D-FAC1-4B36-B3F6-5FC5774167C4}"/>
                </a:ext>
              </a:extLst>
            </p:cNvPr>
            <p:cNvSpPr/>
            <p:nvPr/>
          </p:nvSpPr>
          <p:spPr>
            <a:xfrm>
              <a:off x="63466" y="449834"/>
              <a:ext cx="399957" cy="450469"/>
            </a:xfrm>
            <a:custGeom>
              <a:avLst/>
              <a:gdLst/>
              <a:ahLst/>
              <a:cxnLst/>
              <a:rect l="l" t="t" r="r" b="b"/>
              <a:pathLst>
                <a:path w="399957" h="450469">
                  <a:moveTo>
                    <a:pt x="399957" y="384556"/>
                  </a:moveTo>
                  <a:lnTo>
                    <a:pt x="399957" y="450469"/>
                  </a:lnTo>
                  <a:cubicBezTo>
                    <a:pt x="350808" y="450469"/>
                    <a:pt x="307501" y="441325"/>
                    <a:pt x="280323" y="432689"/>
                  </a:cubicBezTo>
                  <a:cubicBezTo>
                    <a:pt x="308517" y="420243"/>
                    <a:pt x="334298" y="398653"/>
                    <a:pt x="337981" y="392938"/>
                  </a:cubicBezTo>
                  <a:cubicBezTo>
                    <a:pt x="244763" y="439293"/>
                    <a:pt x="144433" y="383667"/>
                    <a:pt x="107095" y="326390"/>
                  </a:cubicBezTo>
                  <a:cubicBezTo>
                    <a:pt x="160943" y="350774"/>
                    <a:pt x="256955" y="357378"/>
                    <a:pt x="283752" y="344678"/>
                  </a:cubicBezTo>
                  <a:cubicBezTo>
                    <a:pt x="190788" y="334899"/>
                    <a:pt x="129447" y="310261"/>
                    <a:pt x="86013" y="276098"/>
                  </a:cubicBezTo>
                  <a:cubicBezTo>
                    <a:pt x="923" y="209042"/>
                    <a:pt x="-9745" y="88646"/>
                    <a:pt x="6257" y="0"/>
                  </a:cubicBezTo>
                  <a:cubicBezTo>
                    <a:pt x="36102" y="96774"/>
                    <a:pt x="194979" y="172466"/>
                    <a:pt x="245144" y="200660"/>
                  </a:cubicBezTo>
                  <a:cubicBezTo>
                    <a:pt x="386114" y="280035"/>
                    <a:pt x="307374" y="337566"/>
                    <a:pt x="399957" y="384429"/>
                  </a:cubicBezTo>
                </a:path>
              </a:pathLst>
            </a:custGeom>
            <a:solidFill>
              <a:srgbClr val="014373"/>
            </a:solidFill>
          </p:spPr>
        </p:sp>
        <p:sp>
          <p:nvSpPr>
            <p:cNvPr id="12" name="Freeform 22">
              <a:extLst>
                <a:ext uri="{FF2B5EF4-FFF2-40B4-BE49-F238E27FC236}">
                  <a16:creationId xmlns:a16="http://schemas.microsoft.com/office/drawing/2014/main" id="{BDFBA755-B19F-40C7-A917-E5EA71556045}"/>
                </a:ext>
              </a:extLst>
            </p:cNvPr>
            <p:cNvSpPr/>
            <p:nvPr/>
          </p:nvSpPr>
          <p:spPr>
            <a:xfrm>
              <a:off x="463423" y="449834"/>
              <a:ext cx="399957" cy="450469"/>
            </a:xfrm>
            <a:custGeom>
              <a:avLst/>
              <a:gdLst/>
              <a:ahLst/>
              <a:cxnLst/>
              <a:rect l="l" t="t" r="r" b="b"/>
              <a:pathLst>
                <a:path w="399957" h="450469">
                  <a:moveTo>
                    <a:pt x="0" y="384556"/>
                  </a:moveTo>
                  <a:lnTo>
                    <a:pt x="0" y="450469"/>
                  </a:lnTo>
                  <a:cubicBezTo>
                    <a:pt x="49149" y="450469"/>
                    <a:pt x="92456" y="441325"/>
                    <a:pt x="119634" y="432689"/>
                  </a:cubicBezTo>
                  <a:cubicBezTo>
                    <a:pt x="91440" y="420243"/>
                    <a:pt x="65659" y="398653"/>
                    <a:pt x="61976" y="392938"/>
                  </a:cubicBezTo>
                  <a:cubicBezTo>
                    <a:pt x="155194" y="439293"/>
                    <a:pt x="255524" y="383667"/>
                    <a:pt x="292862" y="326390"/>
                  </a:cubicBezTo>
                  <a:cubicBezTo>
                    <a:pt x="239014" y="350774"/>
                    <a:pt x="143002" y="357378"/>
                    <a:pt x="116205" y="344678"/>
                  </a:cubicBezTo>
                  <a:cubicBezTo>
                    <a:pt x="209169" y="334899"/>
                    <a:pt x="270510" y="310261"/>
                    <a:pt x="313944" y="276098"/>
                  </a:cubicBezTo>
                  <a:cubicBezTo>
                    <a:pt x="399034" y="209042"/>
                    <a:pt x="409702" y="88646"/>
                    <a:pt x="393700" y="0"/>
                  </a:cubicBezTo>
                  <a:cubicBezTo>
                    <a:pt x="363855" y="96774"/>
                    <a:pt x="204978" y="172466"/>
                    <a:pt x="154813" y="200660"/>
                  </a:cubicBezTo>
                  <a:cubicBezTo>
                    <a:pt x="13843" y="280035"/>
                    <a:pt x="92583" y="337566"/>
                    <a:pt x="0" y="384429"/>
                  </a:cubicBezTo>
                </a:path>
              </a:pathLst>
            </a:custGeom>
            <a:solidFill>
              <a:srgbClr val="014373"/>
            </a:solidFill>
          </p:spPr>
        </p:sp>
      </p:grpSp>
      <p:graphicFrame>
        <p:nvGraphicFramePr>
          <p:cNvPr id="13" name="표 13">
            <a:extLst>
              <a:ext uri="{FF2B5EF4-FFF2-40B4-BE49-F238E27FC236}">
                <a16:creationId xmlns:a16="http://schemas.microsoft.com/office/drawing/2014/main" id="{D2D870E1-018F-4D8A-AC40-223690EF32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1932130"/>
              </p:ext>
            </p:extLst>
          </p:nvPr>
        </p:nvGraphicFramePr>
        <p:xfrm>
          <a:off x="0" y="2316480"/>
          <a:ext cx="12192000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1075">
                  <a:extLst>
                    <a:ext uri="{9D8B030D-6E8A-4147-A177-3AD203B41FA5}">
                      <a16:colId xmlns:a16="http://schemas.microsoft.com/office/drawing/2014/main" val="1502088038"/>
                    </a:ext>
                  </a:extLst>
                </a:gridCol>
                <a:gridCol w="2242185">
                  <a:extLst>
                    <a:ext uri="{9D8B030D-6E8A-4147-A177-3AD203B41FA5}">
                      <a16:colId xmlns:a16="http://schemas.microsoft.com/office/drawing/2014/main" val="306241788"/>
                    </a:ext>
                  </a:extLst>
                </a:gridCol>
                <a:gridCol w="2242185">
                  <a:extLst>
                    <a:ext uri="{9D8B030D-6E8A-4147-A177-3AD203B41FA5}">
                      <a16:colId xmlns:a16="http://schemas.microsoft.com/office/drawing/2014/main" val="1165921071"/>
                    </a:ext>
                  </a:extLst>
                </a:gridCol>
                <a:gridCol w="2242185">
                  <a:extLst>
                    <a:ext uri="{9D8B030D-6E8A-4147-A177-3AD203B41FA5}">
                      <a16:colId xmlns:a16="http://schemas.microsoft.com/office/drawing/2014/main" val="1502219749"/>
                    </a:ext>
                  </a:extLst>
                </a:gridCol>
                <a:gridCol w="2242185">
                  <a:extLst>
                    <a:ext uri="{9D8B030D-6E8A-4147-A177-3AD203B41FA5}">
                      <a16:colId xmlns:a16="http://schemas.microsoft.com/office/drawing/2014/main" val="475996802"/>
                    </a:ext>
                  </a:extLst>
                </a:gridCol>
                <a:gridCol w="2242185">
                  <a:extLst>
                    <a:ext uri="{9D8B030D-6E8A-4147-A177-3AD203B41FA5}">
                      <a16:colId xmlns:a16="http://schemas.microsoft.com/office/drawing/2014/main" val="11737794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Amphotericin B</a:t>
                      </a:r>
                      <a:endParaRPr lang="ko-KR" altLang="en-US" sz="16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Ampicillin</a:t>
                      </a:r>
                      <a:endParaRPr lang="ko-KR" altLang="en-US" sz="16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 err="1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Caspofungin</a:t>
                      </a:r>
                      <a:endParaRPr lang="ko-KR" altLang="en-US" sz="16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Ertapenem</a:t>
                      </a:r>
                      <a:endParaRPr lang="ko-KR" altLang="en-US" sz="16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Liposomal </a:t>
                      </a:r>
                      <a:r>
                        <a:rPr lang="en-US" altLang="ko-KR" sz="1600" b="1" dirty="0" err="1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ampho</a:t>
                      </a:r>
                      <a:r>
                        <a:rPr lang="en-US" altLang="ko-KR" sz="16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 B</a:t>
                      </a:r>
                      <a:endParaRPr lang="ko-KR" altLang="en-US" sz="16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77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D5W</a:t>
                      </a:r>
                      <a:endParaRPr lang="ko-KR" altLang="en-US" sz="16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7890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N/S</a:t>
                      </a:r>
                      <a:endParaRPr lang="ko-KR" altLang="en-US" sz="1600" b="1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가능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불가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07789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7952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492</Words>
  <Application>Microsoft Office PowerPoint</Application>
  <PresentationFormat>와이드스크린</PresentationFormat>
  <Paragraphs>436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맑은 고딕</vt:lpstr>
      <vt:lpstr>함초롬돋움</vt:lpstr>
      <vt:lpstr>휴먼엑스포</vt:lpstr>
      <vt:lpstr>Arial</vt:lpstr>
      <vt:lpstr>Rockwell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NFH</dc:creator>
  <cp:lastModifiedBy>NFH</cp:lastModifiedBy>
  <cp:revision>30</cp:revision>
  <dcterms:created xsi:type="dcterms:W3CDTF">2026-01-06T06:13:16Z</dcterms:created>
  <dcterms:modified xsi:type="dcterms:W3CDTF">2026-06-04T04:55:49Z</dcterms:modified>
</cp:coreProperties>
</file>